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514600" cy="347472"/>
          </a:xfrm>
          <a:prstGeom prst="round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212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МАСТЕР-КЛАСС ДЛЯ ПЕДАГОГОВ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672084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defRPr sz="3100" b="1" i="0">
                <a:solidFill>
                  <a:srgbClr val="FFFFFF"/>
                </a:solidFill>
                <a:latin typeface="Aptos"/>
              </a:defRPr>
            </a:pPr>
            <a:r>
              <a:t>Эффективные методы</a:t>
            </a:r>
            <a:br/>
            <a:r>
              <a:t>подготовки к олимпиадам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962656"/>
            <a:ext cx="6400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200" b="1" i="0">
                <a:solidFill>
                  <a:srgbClr val="E6B34A"/>
                </a:solidFill>
                <a:latin typeface="Aptos"/>
              </a:defRPr>
            </a:pPr>
            <a:r>
              <a:t>по русскому языку и литературе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3767328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DCEBEA"/>
                </a:solidFill>
                <a:latin typeface="Aptos"/>
              </a:defRPr>
            </a:pPr>
            <a:r>
              <a:t>Опыт  •  анализ  •  современные технологии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4416552"/>
            <a:ext cx="5532120" cy="27432"/>
          </a:xfrm>
          <a:prstGeom prst="rect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636008"/>
            <a:ext cx="5760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0" i="0">
                <a:solidFill>
                  <a:srgbClr val="FFFFFF"/>
                </a:solidFill>
                <a:latin typeface="Aptos"/>
              </a:defRPr>
            </a:pPr>
            <a:r>
              <a:t>40 минут  |  10 слайдов  |  практические задания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1208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defRPr sz="1150" b="0" i="0">
                <a:solidFill>
                  <a:srgbClr val="DCEBEA"/>
                </a:solidFill>
                <a:latin typeface="Aptos"/>
              </a:defRPr>
            </a:pPr>
            <a:r>
              <a:t>Автор: ____________________</a:t>
            </a:r>
            <a:br/>
            <a:r>
              <a:t>Организация: ____________________</a:t>
            </a:r>
          </a:p>
        </p:txBody>
      </p:sp>
      <p:sp>
        <p:nvSpPr>
          <p:cNvPr id="10" name="Oval 9"/>
          <p:cNvSpPr/>
          <p:nvPr/>
        </p:nvSpPr>
        <p:spPr>
          <a:xfrm>
            <a:off x="8321040" y="841248"/>
            <a:ext cx="3182112" cy="3182112"/>
          </a:xfrm>
          <a:prstGeom prst="ellipse">
            <a:avLst/>
          </a:prstGeom>
          <a:solidFill>
            <a:srgbClr val="0E5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21180000">
            <a:off x="7680960" y="1856231"/>
            <a:ext cx="1847088" cy="2514600"/>
          </a:xfrm>
          <a:prstGeom prst="roundRect">
            <a:avLst/>
          </a:prstGeom>
          <a:solidFill>
            <a:srgbClr val="FF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 rot="420000">
            <a:off x="9445752" y="1856231"/>
            <a:ext cx="1847088" cy="2514600"/>
          </a:xfrm>
          <a:prstGeom prst="roundRect">
            <a:avLst/>
          </a:prstGeom>
          <a:solidFill>
            <a:srgbClr val="FF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81744" y="2048256"/>
            <a:ext cx="54864" cy="2148840"/>
          </a:xfrm>
          <a:prstGeom prst="rect">
            <a:avLst/>
          </a:prstGeom>
          <a:solidFill>
            <a:srgbClr val="E6B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286000"/>
            <a:ext cx="1115568" cy="36576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1" y="2670048"/>
            <a:ext cx="1298448" cy="36576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28431" y="3054096"/>
            <a:ext cx="1005840" cy="36576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1" y="3438144"/>
            <a:ext cx="1225296" cy="36576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02368" y="2286000"/>
            <a:ext cx="1170432" cy="36576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02368" y="2670048"/>
            <a:ext cx="969264" cy="36576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02368" y="3054096"/>
            <a:ext cx="1280160" cy="36576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02368" y="3438144"/>
            <a:ext cx="1097280" cy="36576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43800" y="4809744"/>
            <a:ext cx="1005840" cy="347472"/>
          </a:xfrm>
          <a:prstGeom prst="roundRect">
            <a:avLst/>
          </a:prstGeom>
          <a:solidFill>
            <a:srgbClr val="F8E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4828031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000" b="1" i="0">
                <a:solidFill>
                  <a:srgbClr val="E56B4A"/>
                </a:solidFill>
                <a:latin typeface="Aptos"/>
              </a:defRPr>
            </a:pPr>
            <a:r>
              <a:t>СЛОВО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5120640"/>
            <a:ext cx="1078992" cy="347472"/>
          </a:xfrm>
          <a:prstGeom prst="roundRect">
            <a:avLst/>
          </a:prstGeom>
          <a:solidFill>
            <a:srgbClr val="F8E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0" y="5138927"/>
            <a:ext cx="9875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000" b="1" i="0">
                <a:solidFill>
                  <a:srgbClr val="18313D"/>
                </a:solidFill>
                <a:latin typeface="Aptos"/>
              </a:defRPr>
            </a:pPr>
            <a:r>
              <a:t>СМЫСЛ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4736592"/>
            <a:ext cx="1353312" cy="347472"/>
          </a:xfrm>
          <a:prstGeom prst="roundRect">
            <a:avLst/>
          </a:prstGeom>
          <a:solidFill>
            <a:srgbClr val="DDE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4754879"/>
            <a:ext cx="1261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000" b="1" i="0">
                <a:solidFill>
                  <a:srgbClr val="4F9B78"/>
                </a:solidFill>
                <a:latin typeface="Aptos"/>
              </a:defRPr>
            </a:pPr>
            <a:r>
              <a:t>ДОКАЗАТЬ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647395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РУССКИЙ ЯЗЫК • ЛИТЕРАТУРА • ОЛИМПИАДА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3737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E56B4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8992" y="411480"/>
            <a:ext cx="292608" cy="45720"/>
          </a:xfrm>
          <a:prstGeom prst="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81328" y="256032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6747E"/>
                </a:solidFill>
                <a:latin typeface="Aptos"/>
              </a:defRPr>
            </a:pPr>
            <a:r>
              <a:t>НЕ НАБОР ПРАВИЛ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5029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700" b="1" i="0">
                <a:solidFill>
                  <a:srgbClr val="18313D"/>
                </a:solidFill>
                <a:latin typeface="Aptos"/>
              </a:defRPr>
            </a:pPr>
            <a:r>
              <a:t>Что на самом деле проверяет олимпиада?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2286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417320"/>
            <a:ext cx="18745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 i="0">
                <a:solidFill>
                  <a:srgbClr val="667983"/>
                </a:solidFill>
                <a:latin typeface="Aptos"/>
              </a:defRPr>
            </a:pPr>
            <a:r>
              <a:t>ЗНАТЬ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312" y="1344168"/>
            <a:ext cx="6583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2800" b="1" i="0">
                <a:solidFill>
                  <a:srgbClr val="E56B4A"/>
                </a:solidFill>
                <a:latin typeface="Aptos"/>
              </a:defRPr>
            </a:pPr>
            <a:r>
              <a:t>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2112" y="14173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 i="0">
                <a:solidFill>
                  <a:srgbClr val="16747E"/>
                </a:solidFill>
                <a:latin typeface="Aptos"/>
              </a:defRPr>
            </a:pPr>
            <a:r>
              <a:t>ПРИМЕНЯТЬ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54132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18313D"/>
                </a:solidFill>
                <a:latin typeface="Aptos"/>
              </a:defRPr>
            </a:pPr>
            <a:r>
              <a:t>Олимпиадный результат появляется, когда ученик выполняет четыре действия: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148840"/>
            <a:ext cx="2176272" cy="2542032"/>
          </a:xfrm>
          <a:prstGeom prst="roundRect">
            <a:avLst/>
          </a:prstGeom>
          <a:solidFill>
            <a:srgbClr val="DCE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350008"/>
            <a:ext cx="530352" cy="530352"/>
          </a:xfrm>
          <a:prstGeom prst="ellipse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5000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90672"/>
            <a:ext cx="17739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18313D"/>
                </a:solidFill>
                <a:latin typeface="Aptos"/>
              </a:defRPr>
            </a:pPr>
            <a:r>
              <a:t>Увидеть закономерность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58768"/>
            <a:ext cx="177393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0" i="0">
                <a:solidFill>
                  <a:srgbClr val="667983"/>
                </a:solidFill>
                <a:latin typeface="Aptos"/>
              </a:defRPr>
            </a:pPr>
            <a:r>
              <a:t>Сравнить примеры и заметить, что именно меняется.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84448" y="2148840"/>
            <a:ext cx="2176272" cy="2542032"/>
          </a:xfrm>
          <a:prstGeom prst="roundRect">
            <a:avLst/>
          </a:prstGeom>
          <a:solidFill>
            <a:srgbClr val="F8E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85615" y="2350008"/>
            <a:ext cx="530352" cy="530352"/>
          </a:xfrm>
          <a:prstGeom prst="ellipse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85615" y="235000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5615" y="3090672"/>
            <a:ext cx="17739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18313D"/>
                </a:solidFill>
                <a:latin typeface="Aptos"/>
              </a:defRPr>
            </a:pPr>
            <a:r>
              <a:t>Выдвинуть гипотезу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5615" y="3858768"/>
            <a:ext cx="177393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0" i="0">
                <a:solidFill>
                  <a:srgbClr val="667983"/>
                </a:solidFill>
                <a:latin typeface="Aptos"/>
              </a:defRPr>
            </a:pPr>
            <a:r>
              <a:t>Сформулировать возможное объяснение своими словами.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55664" y="2148840"/>
            <a:ext cx="2176272" cy="2542032"/>
          </a:xfrm>
          <a:prstGeom prst="roundRect">
            <a:avLst/>
          </a:prstGeom>
          <a:solidFill>
            <a:srgbClr val="F8E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56831" y="2350008"/>
            <a:ext cx="530352" cy="530352"/>
          </a:xfrm>
          <a:prstGeom prst="ellipse">
            <a:avLst/>
          </a:prstGeom>
          <a:solidFill>
            <a:srgbClr val="E6B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1" y="235000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831" y="3090672"/>
            <a:ext cx="17739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18313D"/>
                </a:solidFill>
                <a:latin typeface="Aptos"/>
              </a:defRPr>
            </a:pPr>
            <a:r>
              <a:t>Доказать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6831" y="3858768"/>
            <a:ext cx="177393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0" i="0">
                <a:solidFill>
                  <a:srgbClr val="667983"/>
                </a:solidFill>
                <a:latin typeface="Aptos"/>
              </a:defRPr>
            </a:pPr>
            <a:r>
              <a:t>Подтвердить ответ признаками, цитатой или контрпримером.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0" y="2148840"/>
            <a:ext cx="2176272" cy="2542032"/>
          </a:xfrm>
          <a:prstGeom prst="roundRect">
            <a:avLst/>
          </a:prstGeom>
          <a:solidFill>
            <a:srgbClr val="DDE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28048" y="2350008"/>
            <a:ext cx="530352" cy="530352"/>
          </a:xfrm>
          <a:prstGeom prst="ellipse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8048" y="235000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8048" y="3090672"/>
            <a:ext cx="17739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18313D"/>
                </a:solidFill>
                <a:latin typeface="Aptos"/>
              </a:defRPr>
            </a:pPr>
            <a:r>
              <a:t>Точно оформить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8048" y="3858768"/>
            <a:ext cx="177393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0" i="0">
                <a:solidFill>
                  <a:srgbClr val="667983"/>
                </a:solidFill>
                <a:latin typeface="Aptos"/>
              </a:defRPr>
            </a:pPr>
            <a:r>
              <a:t>Дать полный ответ без лишних рассуждений и двусмысленности.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074920"/>
            <a:ext cx="10789920" cy="749808"/>
          </a:xfrm>
          <a:prstGeom prst="roundRect">
            <a:avLst/>
          </a:prstGeom>
          <a:solidFill>
            <a:srgbClr val="12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28523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E6B34A"/>
                </a:solidFill>
                <a:latin typeface="Aptos"/>
              </a:defRPr>
            </a:pPr>
            <a:r>
              <a:t>Фокус подготовки: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87752" y="5248656"/>
            <a:ext cx="8156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FFFFFF"/>
                </a:solidFill>
                <a:latin typeface="Aptos"/>
              </a:defRPr>
            </a:pPr>
            <a:r>
              <a:t>не «сколько заданий решено», а «как ученик объясняет решение»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647395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800" b="1" i="0">
                <a:solidFill>
                  <a:srgbClr val="667983"/>
                </a:solidFill>
                <a:latin typeface="Aptos"/>
              </a:defRPr>
            </a:pPr>
            <a:r>
              <a:t>РУССКИЙ ЯЗЫК • ЛИТЕРАТУРА • ОЛИМПИАДА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43737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00" b="1" i="0">
                <a:solidFill>
                  <a:srgbClr val="667983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E56B4A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8992" y="411480"/>
            <a:ext cx="292608" cy="45720"/>
          </a:xfrm>
          <a:prstGeom prst="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81328" y="256032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6747E"/>
                </a:solidFill>
                <a:latin typeface="Aptos"/>
              </a:defRPr>
            </a:pPr>
            <a:r>
              <a:t>ОТ ОТБОРА ДО КОРРЕКЦИИ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5029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700" b="1" i="0">
                <a:solidFill>
                  <a:srgbClr val="18313D"/>
                </a:solidFill>
                <a:latin typeface="Aptos"/>
              </a:defRPr>
            </a:pPr>
            <a:r>
              <a:t>Система подготовки: шесть последовательных шагов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2286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62456" y="2313432"/>
            <a:ext cx="1170432" cy="4572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368" y="1856231"/>
            <a:ext cx="841248" cy="841248"/>
          </a:xfrm>
          <a:prstGeom prst="ellipse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65376"/>
            <a:ext cx="84124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2200" b="1" i="0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1" y="2889504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 i="0">
                <a:solidFill>
                  <a:srgbClr val="18313D"/>
                </a:solidFill>
                <a:latin typeface="Aptos"/>
              </a:defRPr>
            </a:pPr>
            <a:r>
              <a:t>Диагностика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341071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050" b="0" i="0">
                <a:solidFill>
                  <a:srgbClr val="667983"/>
                </a:solidFill>
                <a:latin typeface="Aptos"/>
              </a:defRPr>
            </a:pPr>
            <a:r>
              <a:t>Что уже умеет?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2313432"/>
            <a:ext cx="1170432" cy="4572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42032" y="1856231"/>
            <a:ext cx="841248" cy="841248"/>
          </a:xfrm>
          <a:prstGeom prst="ellipse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1865376"/>
            <a:ext cx="84124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2200" b="1" i="0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1136" y="2889504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 i="0">
                <a:solidFill>
                  <a:srgbClr val="18313D"/>
                </a:solidFill>
                <a:latin typeface="Aptos"/>
              </a:defRPr>
            </a:pPr>
            <a:r>
              <a:t>Цель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41071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050" b="0" i="0">
                <a:solidFill>
                  <a:srgbClr val="667983"/>
                </a:solidFill>
                <a:latin typeface="Aptos"/>
              </a:defRPr>
            </a:pPr>
            <a:r>
              <a:t>Одна зона роста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9783" y="2313432"/>
            <a:ext cx="1170432" cy="4572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25696" y="1856231"/>
            <a:ext cx="841248" cy="841248"/>
          </a:xfrm>
          <a:prstGeom prst="ellipse">
            <a:avLst/>
          </a:prstGeom>
          <a:solidFill>
            <a:srgbClr val="E6B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5696" y="1865376"/>
            <a:ext cx="84124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2200" b="1" i="0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889504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 i="0">
                <a:solidFill>
                  <a:srgbClr val="18313D"/>
                </a:solidFill>
                <a:latin typeface="Aptos"/>
              </a:defRPr>
            </a:pPr>
            <a:r>
              <a:t>Тренировка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8224" y="341071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050" b="0" i="0">
                <a:solidFill>
                  <a:srgbClr val="667983"/>
                </a:solidFill>
                <a:latin typeface="Aptos"/>
              </a:defRPr>
            </a:pPr>
            <a:r>
              <a:t>Приём + практика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13448" y="2313432"/>
            <a:ext cx="1170432" cy="4572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0" y="1856231"/>
            <a:ext cx="841248" cy="841248"/>
          </a:xfrm>
          <a:prstGeom prst="ellipse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865376"/>
            <a:ext cx="84124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2200" b="1" i="0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2889504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 i="0">
                <a:solidFill>
                  <a:srgbClr val="18313D"/>
                </a:solidFill>
                <a:latin typeface="Aptos"/>
              </a:defRPr>
            </a:pPr>
            <a:r>
              <a:t>Объяснение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341071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050" b="0" i="0">
                <a:solidFill>
                  <a:srgbClr val="667983"/>
                </a:solidFill>
                <a:latin typeface="Aptos"/>
              </a:defRPr>
            </a:pPr>
            <a:r>
              <a:t>Почему так?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97112" y="2313432"/>
            <a:ext cx="1170432" cy="4572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193024" y="1856231"/>
            <a:ext cx="841248" cy="841248"/>
          </a:xfrm>
          <a:prstGeom prst="ellipse">
            <a:avLst/>
          </a:prstGeom>
          <a:solidFill>
            <a:srgbClr val="0E5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93024" y="1865376"/>
            <a:ext cx="84124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2200" b="1" i="0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2889504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 i="0">
                <a:solidFill>
                  <a:srgbClr val="18313D"/>
                </a:solidFill>
                <a:latin typeface="Aptos"/>
              </a:defRPr>
            </a:pPr>
            <a:r>
              <a:t>Пробная работа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5552" y="341071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050" b="0" i="0">
                <a:solidFill>
                  <a:srgbClr val="667983"/>
                </a:solidFill>
                <a:latin typeface="Aptos"/>
              </a:defRPr>
            </a:pPr>
            <a:r>
              <a:t>Время и критерии</a:t>
            </a:r>
          </a:p>
        </p:txBody>
      </p:sp>
      <p:sp>
        <p:nvSpPr>
          <p:cNvPr id="32" name="Oval 31"/>
          <p:cNvSpPr/>
          <p:nvPr/>
        </p:nvSpPr>
        <p:spPr>
          <a:xfrm>
            <a:off x="10076688" y="1856231"/>
            <a:ext cx="841248" cy="841248"/>
          </a:xfrm>
          <a:prstGeom prst="ellipse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76688" y="1865376"/>
            <a:ext cx="84124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2200" b="1" i="0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5792" y="2889504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 i="0">
                <a:solidFill>
                  <a:srgbClr val="18313D"/>
                </a:solidFill>
                <a:latin typeface="Aptos"/>
              </a:defRPr>
            </a:pPr>
            <a:r>
              <a:t>Коррекция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9215" y="341071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050" b="0" i="0">
                <a:solidFill>
                  <a:srgbClr val="667983"/>
                </a:solidFill>
                <a:latin typeface="Aptos"/>
              </a:defRPr>
            </a:pPr>
            <a:r>
              <a:t>Следующее действие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370832"/>
            <a:ext cx="5084064" cy="1188720"/>
          </a:xfrm>
          <a:prstGeom prst="roundRect">
            <a:avLst/>
          </a:prstGeom>
          <a:solidFill>
            <a:srgbClr val="DCE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4599432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0E5962"/>
                </a:solidFill>
                <a:latin typeface="Aptos"/>
              </a:defRPr>
            </a:pPr>
            <a:r>
              <a:t>Индивидуальный маршрут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" y="5020056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18313D"/>
                </a:solidFill>
                <a:latin typeface="Aptos"/>
              </a:defRPr>
            </a:pPr>
            <a:r>
              <a:t>сильная сторона  +  одна измеримая зона роста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62472" y="4370832"/>
            <a:ext cx="5413248" cy="1188720"/>
          </a:xfrm>
          <a:prstGeom prst="roundRect">
            <a:avLst/>
          </a:prstGeom>
          <a:solidFill>
            <a:srgbClr val="F8E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459943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E56B4A"/>
                </a:solidFill>
                <a:latin typeface="Aptos"/>
              </a:defRPr>
            </a:pPr>
            <a:r>
              <a:t>Главный принцип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020056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18313D"/>
                </a:solidFill>
                <a:latin typeface="Aptos"/>
              </a:defRPr>
            </a:pPr>
            <a:r>
              <a:t>каждая ошибка заканчивается конкретным следующим заданием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47395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800" b="1" i="0">
                <a:solidFill>
                  <a:srgbClr val="667983"/>
                </a:solidFill>
                <a:latin typeface="Aptos"/>
              </a:defRPr>
            </a:pPr>
            <a:r>
              <a:t>РУССКИЙ ЯЗЫК • ЛИТЕРАТУРА • ОЛИМПИАДА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01400" y="643737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00" b="1" i="0">
                <a:solidFill>
                  <a:srgbClr val="667983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E56B4A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8992" y="411480"/>
            <a:ext cx="292608" cy="45720"/>
          </a:xfrm>
          <a:prstGeom prst="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81328" y="256032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6747E"/>
                </a:solidFill>
                <a:latin typeface="Aptos"/>
              </a:defRPr>
            </a:pPr>
            <a:r>
              <a:t>НЕ ОЦЕНКА, А КАРТА ЗАТРУДНЕНИЙ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5029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700" b="1" i="0">
                <a:solidFill>
                  <a:srgbClr val="18313D"/>
                </a:solidFill>
                <a:latin typeface="Aptos"/>
              </a:defRPr>
            </a:pPr>
            <a:r>
              <a:t>Диагностика за 20 минут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2286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53312"/>
            <a:ext cx="5358384" cy="318211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CD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41832" y="1618488"/>
            <a:ext cx="1536192" cy="347472"/>
          </a:xfrm>
          <a:prstGeom prst="roundRect">
            <a:avLst/>
          </a:prstGeom>
          <a:solidFill>
            <a:srgbClr val="DCE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636776"/>
            <a:ext cx="14447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000" b="1" i="0">
                <a:solidFill>
                  <a:srgbClr val="0E5962"/>
                </a:solidFill>
                <a:latin typeface="Aptos"/>
              </a:defRPr>
            </a:pPr>
            <a:r>
              <a:t>РУССКИЙ ЯЗЫК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267712"/>
            <a:ext cx="118872" cy="118872"/>
          </a:xfrm>
          <a:prstGeom prst="ellipse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176272"/>
            <a:ext cx="427939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0" i="0">
                <a:solidFill>
                  <a:srgbClr val="18313D"/>
                </a:solidFill>
                <a:latin typeface="Aptos"/>
              </a:defRPr>
            </a:pPr>
            <a:r>
              <a:t>лексика и значение слова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2779776"/>
            <a:ext cx="118872" cy="118872"/>
          </a:xfrm>
          <a:prstGeom prst="ellipse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688336"/>
            <a:ext cx="427939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0" i="0">
                <a:solidFill>
                  <a:srgbClr val="18313D"/>
                </a:solidFill>
                <a:latin typeface="Aptos"/>
              </a:defRPr>
            </a:pPr>
            <a:r>
              <a:t>морфология и формы слов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3291840"/>
            <a:ext cx="118872" cy="118872"/>
          </a:xfrm>
          <a:prstGeom prst="ellipse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200400"/>
            <a:ext cx="427939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0" i="0">
                <a:solidFill>
                  <a:srgbClr val="18313D"/>
                </a:solidFill>
                <a:latin typeface="Aptos"/>
              </a:defRPr>
            </a:pPr>
            <a:r>
              <a:t>синтаксис и пунктуация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118872" cy="118872"/>
          </a:xfrm>
          <a:prstGeom prst="ellipse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712464"/>
            <a:ext cx="427939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0" i="0">
                <a:solidFill>
                  <a:srgbClr val="18313D"/>
                </a:solidFill>
                <a:latin typeface="Aptos"/>
              </a:defRPr>
            </a:pPr>
            <a:r>
              <a:t>редактирование и доказательство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353312"/>
            <a:ext cx="5340096" cy="3182112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CD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83096" y="1618488"/>
            <a:ext cx="1298448" cy="347472"/>
          </a:xfrm>
          <a:prstGeom prst="roundRect">
            <a:avLst/>
          </a:prstGeom>
          <a:solidFill>
            <a:srgbClr val="F8E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8816" y="1636776"/>
            <a:ext cx="12070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000" b="1" i="0">
                <a:solidFill>
                  <a:srgbClr val="E56B4A"/>
                </a:solidFill>
                <a:latin typeface="Aptos"/>
              </a:defRPr>
            </a:pPr>
            <a:r>
              <a:t>ЛИТЕРАТУРА</a:t>
            </a:r>
          </a:p>
        </p:txBody>
      </p:sp>
      <p:sp>
        <p:nvSpPr>
          <p:cNvPr id="21" name="Oval 20"/>
          <p:cNvSpPr/>
          <p:nvPr/>
        </p:nvSpPr>
        <p:spPr>
          <a:xfrm>
            <a:off x="6483096" y="2267712"/>
            <a:ext cx="118872" cy="118872"/>
          </a:xfrm>
          <a:prstGeom prst="ellipse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9983" y="2176272"/>
            <a:ext cx="427939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0" i="0">
                <a:solidFill>
                  <a:srgbClr val="18313D"/>
                </a:solidFill>
                <a:latin typeface="Aptos"/>
              </a:defRPr>
            </a:pPr>
            <a:r>
              <a:t>понимание фактов текста</a:t>
            </a:r>
          </a:p>
        </p:txBody>
      </p:sp>
      <p:sp>
        <p:nvSpPr>
          <p:cNvPr id="23" name="Oval 22"/>
          <p:cNvSpPr/>
          <p:nvPr/>
        </p:nvSpPr>
        <p:spPr>
          <a:xfrm>
            <a:off x="6483096" y="2779776"/>
            <a:ext cx="118872" cy="118872"/>
          </a:xfrm>
          <a:prstGeom prst="ellipse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983" y="2688336"/>
            <a:ext cx="427939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0" i="0">
                <a:solidFill>
                  <a:srgbClr val="18313D"/>
                </a:solidFill>
                <a:latin typeface="Aptos"/>
              </a:defRPr>
            </a:pPr>
            <a:r>
              <a:t>художественная деталь</a:t>
            </a:r>
          </a:p>
        </p:txBody>
      </p:sp>
      <p:sp>
        <p:nvSpPr>
          <p:cNvPr id="25" name="Oval 24"/>
          <p:cNvSpPr/>
          <p:nvPr/>
        </p:nvSpPr>
        <p:spPr>
          <a:xfrm>
            <a:off x="6483096" y="3291840"/>
            <a:ext cx="118872" cy="118872"/>
          </a:xfrm>
          <a:prstGeom prst="ellipse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9983" y="3200400"/>
            <a:ext cx="427939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0" i="0">
                <a:solidFill>
                  <a:srgbClr val="18313D"/>
                </a:solidFill>
                <a:latin typeface="Aptos"/>
              </a:defRPr>
            </a:pPr>
            <a:r>
              <a:t>средство → эффект → смысл</a:t>
            </a:r>
          </a:p>
        </p:txBody>
      </p:sp>
      <p:sp>
        <p:nvSpPr>
          <p:cNvPr id="27" name="Oval 26"/>
          <p:cNvSpPr/>
          <p:nvPr/>
        </p:nvSpPr>
        <p:spPr>
          <a:xfrm>
            <a:off x="6483096" y="3803904"/>
            <a:ext cx="118872" cy="118872"/>
          </a:xfrm>
          <a:prstGeom prst="ellipse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9983" y="3712464"/>
            <a:ext cx="427939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0" i="0">
                <a:solidFill>
                  <a:srgbClr val="18313D"/>
                </a:solidFill>
                <a:latin typeface="Aptos"/>
              </a:defRPr>
            </a:pPr>
            <a:r>
              <a:t>аргументация цитатой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791456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 i="0">
                <a:solidFill>
                  <a:srgbClr val="16747E"/>
                </a:solidFill>
                <a:latin typeface="Aptos"/>
              </a:defRPr>
            </a:pPr>
            <a:r>
              <a:t>КАРТА ПРОДВИЖЕНИЯ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138928"/>
            <a:ext cx="3063240" cy="877824"/>
          </a:xfrm>
          <a:prstGeom prst="roundRect">
            <a:avLst/>
          </a:prstGeom>
          <a:solidFill>
            <a:srgbClr val="F8E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266944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 i="0">
                <a:solidFill>
                  <a:srgbClr val="667983"/>
                </a:solidFill>
                <a:latin typeface="Aptos"/>
              </a:defRPr>
            </a:pPr>
            <a:r>
              <a:t>Ошибка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559552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18313D"/>
                </a:solidFill>
                <a:latin typeface="Aptos"/>
              </a:defRPr>
            </a:pPr>
            <a:r>
              <a:t>Приём назван, роль не объяснена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13632" y="5138928"/>
            <a:ext cx="3429000" cy="877824"/>
          </a:xfrm>
          <a:prstGeom prst="roundRect">
            <a:avLst/>
          </a:prstGeom>
          <a:solidFill>
            <a:srgbClr val="F8E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96512" y="5266944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 i="0">
                <a:solidFill>
                  <a:srgbClr val="667983"/>
                </a:solidFill>
                <a:latin typeface="Aptos"/>
              </a:defRPr>
            </a:pPr>
            <a:r>
              <a:t>Причина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6512" y="5559552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18313D"/>
                </a:solidFill>
                <a:latin typeface="Aptos"/>
              </a:defRPr>
            </a:pPr>
            <a:r>
              <a:t>Термин выучен без связи со смыслом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79792" y="5138928"/>
            <a:ext cx="3995928" cy="877824"/>
          </a:xfrm>
          <a:prstGeom prst="roundRect">
            <a:avLst/>
          </a:prstGeom>
          <a:solidFill>
            <a:srgbClr val="DDE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62671" y="5266944"/>
            <a:ext cx="36301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 i="0">
                <a:solidFill>
                  <a:srgbClr val="667983"/>
                </a:solidFill>
                <a:latin typeface="Aptos"/>
              </a:defRPr>
            </a:pPr>
            <a:r>
              <a:t>Следующее действие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62671" y="5559552"/>
            <a:ext cx="36301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18313D"/>
                </a:solidFill>
                <a:latin typeface="Aptos"/>
              </a:defRPr>
            </a:pPr>
            <a:r>
              <a:t>3 фрагмента по формуле «приём → эффект»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" y="647395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800" b="1" i="0">
                <a:solidFill>
                  <a:srgbClr val="667983"/>
                </a:solidFill>
                <a:latin typeface="Aptos"/>
              </a:defRPr>
            </a:pPr>
            <a:r>
              <a:t>РУССКИЙ ЯЗЫК • ЛИТЕРАТУРА • ОЛИМПИАДА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3737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00" b="1" i="0">
                <a:solidFill>
                  <a:srgbClr val="667983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E56B4A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8992" y="411480"/>
            <a:ext cx="292608" cy="45720"/>
          </a:xfrm>
          <a:prstGeom prst="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81328" y="256032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6747E"/>
                </a:solidFill>
                <a:latin typeface="Aptos"/>
              </a:defRPr>
            </a:pPr>
            <a:r>
              <a:t>КОРОТКО, РЕГУЛЯРНО, С ОБЪЯСНЕНИЕМ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5029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700" b="1" i="0">
                <a:solidFill>
                  <a:srgbClr val="18313D"/>
                </a:solidFill>
                <a:latin typeface="Aptos"/>
              </a:defRPr>
            </a:pPr>
            <a:r>
              <a:t>Четыре метода, которые работают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2286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89888"/>
            <a:ext cx="5376672" cy="1956816"/>
          </a:xfrm>
          <a:prstGeom prst="roundRect">
            <a:avLst/>
          </a:prstGeom>
          <a:solidFill>
            <a:srgbClr val="DCEBEA"/>
          </a:solidFill>
          <a:ln w="10160">
            <a:solidFill>
              <a:srgbClr val="CD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89888"/>
            <a:ext cx="73152" cy="1956816"/>
          </a:xfrm>
          <a:prstGeom prst="rect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1636776"/>
            <a:ext cx="438912" cy="438912"/>
          </a:xfrm>
          <a:prstGeom prst="ellipse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63677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600" b="1" i="0">
                <a:solidFill>
                  <a:srgbClr val="FFFFFF"/>
                </a:solidFill>
                <a:latin typeface="Aptos"/>
              </a:defRPr>
            </a:pPr>
            <a:r>
              <a:t>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591056"/>
            <a:ext cx="43525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 i="0">
                <a:solidFill>
                  <a:srgbClr val="18313D"/>
                </a:solidFill>
                <a:latin typeface="Aptos"/>
              </a:defRPr>
            </a:pPr>
            <a:r>
              <a:t>Лингвистический детектив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103120"/>
            <a:ext cx="484632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defRPr sz="1150" b="0" i="0">
                <a:solidFill>
                  <a:srgbClr val="667983"/>
                </a:solidFill>
                <a:latin typeface="Aptos"/>
              </a:defRPr>
            </a:pPr>
            <a:r>
              <a:t>Найти закономерность → сформулировать гипотезу → подтвердить двумя примерами.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89888"/>
            <a:ext cx="5358384" cy="1956816"/>
          </a:xfrm>
          <a:prstGeom prst="roundRect">
            <a:avLst/>
          </a:prstGeom>
          <a:solidFill>
            <a:srgbClr val="F8E3DC"/>
          </a:solidFill>
          <a:ln w="10160">
            <a:solidFill>
              <a:srgbClr val="CD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89888"/>
            <a:ext cx="73152" cy="1956816"/>
          </a:xfrm>
          <a:prstGeom prst="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9088" y="1636776"/>
            <a:ext cx="438912" cy="438912"/>
          </a:xfrm>
          <a:prstGeom prst="ellipse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63677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600" b="1" i="0">
                <a:solidFill>
                  <a:srgbClr val="FFFFFF"/>
                </a:solidFill>
                <a:latin typeface="Aptos"/>
              </a:defRPr>
            </a:pPr>
            <a:r>
              <a:t>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1591056"/>
            <a:ext cx="43342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 i="0">
                <a:solidFill>
                  <a:srgbClr val="18313D"/>
                </a:solidFill>
                <a:latin typeface="Aptos"/>
              </a:defRPr>
            </a:pPr>
            <a:r>
              <a:t>Редакторская мастерская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03120"/>
            <a:ext cx="4828032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defRPr sz="1150" b="0" i="0">
                <a:solidFill>
                  <a:srgbClr val="667983"/>
                </a:solidFill>
                <a:latin typeface="Aptos"/>
              </a:defRPr>
            </a:pPr>
            <a:r>
              <a:t>Исправить ошибку, назвать её тип и объяснить, почему новый вариант точнее.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47872"/>
            <a:ext cx="5376672" cy="1956816"/>
          </a:xfrm>
          <a:prstGeom prst="roundRect">
            <a:avLst/>
          </a:prstGeom>
          <a:solidFill>
            <a:srgbClr val="F8EDCF"/>
          </a:solidFill>
          <a:ln w="10160">
            <a:solidFill>
              <a:srgbClr val="CD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547872"/>
            <a:ext cx="73152" cy="1956816"/>
          </a:xfrm>
          <a:prstGeom prst="rect">
            <a:avLst/>
          </a:prstGeom>
          <a:solidFill>
            <a:srgbClr val="E6B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05256" y="3794760"/>
            <a:ext cx="438912" cy="438912"/>
          </a:xfrm>
          <a:prstGeom prst="ellipse">
            <a:avLst/>
          </a:prstGeom>
          <a:solidFill>
            <a:srgbClr val="E6B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379476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600" b="1" i="0">
                <a:solidFill>
                  <a:srgbClr val="FFFFFF"/>
                </a:solidFill>
                <a:latin typeface="Aptos"/>
              </a:defRPr>
            </a:pPr>
            <a:r>
              <a:t>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749039"/>
            <a:ext cx="43525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 i="0">
                <a:solidFill>
                  <a:srgbClr val="18313D"/>
                </a:solidFill>
                <a:latin typeface="Aptos"/>
              </a:defRPr>
            </a:pPr>
            <a:r>
              <a:t>Читательская лаборатория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4261104"/>
            <a:ext cx="484632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defRPr sz="1150" b="0" i="0">
                <a:solidFill>
                  <a:srgbClr val="667983"/>
                </a:solidFill>
                <a:latin typeface="Aptos"/>
              </a:defRPr>
            </a:pPr>
            <a:r>
              <a:t>Деталь → средство выразительности → эффект → смысл текста.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547872"/>
            <a:ext cx="5358384" cy="1956816"/>
          </a:xfrm>
          <a:prstGeom prst="roundRect">
            <a:avLst/>
          </a:prstGeom>
          <a:solidFill>
            <a:srgbClr val="DDEDE4"/>
          </a:solidFill>
          <a:ln w="10160">
            <a:solidFill>
              <a:srgbClr val="CD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73152" cy="1956816"/>
          </a:xfrm>
          <a:prstGeom prst="rect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19088" y="3794760"/>
            <a:ext cx="438912" cy="438912"/>
          </a:xfrm>
          <a:prstGeom prst="ellipse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79476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600" b="1" i="0">
                <a:solidFill>
                  <a:srgbClr val="FFFFFF"/>
                </a:solidFill>
                <a:latin typeface="Aptos"/>
              </a:defRPr>
            </a:pPr>
            <a:r>
              <a:t>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3749039"/>
            <a:ext cx="43342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 i="0">
                <a:solidFill>
                  <a:srgbClr val="18313D"/>
                </a:solidFill>
                <a:latin typeface="Aptos"/>
              </a:defRPr>
            </a:pPr>
            <a:r>
              <a:t>Объясни другому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261104"/>
            <a:ext cx="4828032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defRPr sz="1150" b="0" i="0">
                <a:solidFill>
                  <a:srgbClr val="667983"/>
                </a:solidFill>
                <a:latin typeface="Aptos"/>
              </a:defRPr>
            </a:pPr>
            <a:r>
              <a:t>Ученик проговаривает ход решения. Партнёр задаёт один уточняющий вопрос.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29584" y="5760720"/>
            <a:ext cx="5138928" cy="457200"/>
          </a:xfrm>
          <a:prstGeom prst="roundRect">
            <a:avLst/>
          </a:prstGeom>
          <a:solidFill>
            <a:srgbClr val="12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03320" y="586130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Ритм: 5 минут на каждом уроке + 1 глубокое занятие в неделю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647395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800" b="1" i="0">
                <a:solidFill>
                  <a:srgbClr val="667983"/>
                </a:solidFill>
                <a:latin typeface="Aptos"/>
              </a:defRPr>
            </a:pPr>
            <a:r>
              <a:t>РУССКИЙ ЯЗЫК • ЛИТЕРАТУРА • ОЛИМПИАДА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3737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00" b="1" i="0">
                <a:solidFill>
                  <a:srgbClr val="667983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E56B4A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8992" y="411480"/>
            <a:ext cx="292608" cy="45720"/>
          </a:xfrm>
          <a:prstGeom prst="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81328" y="256032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6747E"/>
                </a:solidFill>
                <a:latin typeface="Aptos"/>
              </a:defRPr>
            </a:pPr>
            <a:r>
              <a:t>РУССКИЙ ЯЗЫК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5029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700" b="1" i="0">
                <a:solidFill>
                  <a:srgbClr val="18313D"/>
                </a:solidFill>
                <a:latin typeface="Aptos"/>
              </a:defRPr>
            </a:pPr>
            <a:r>
              <a:t>Практика 1. Лингвистический детектив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2286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5166360" cy="4517136"/>
          </a:xfrm>
          <a:prstGeom prst="roundRect">
            <a:avLst/>
          </a:prstGeom>
          <a:solidFill>
            <a:srgbClr val="12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2688" y="1664208"/>
            <a:ext cx="1051560" cy="347472"/>
          </a:xfrm>
          <a:prstGeom prst="round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682496"/>
            <a:ext cx="9601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ЗАДАНИЕ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212848"/>
            <a:ext cx="452628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defRPr sz="2200" b="1" i="0">
                <a:solidFill>
                  <a:srgbClr val="FFFFFF"/>
                </a:solidFill>
                <a:latin typeface="Aptos"/>
              </a:defRPr>
            </a:pPr>
            <a:r>
              <a:t>Стекло заблестело на солнце.</a:t>
            </a:r>
            <a:br/>
            <a:br/>
            <a:r>
              <a:t>Молоко стекло на пол.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4005072"/>
            <a:ext cx="4416552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0" i="0">
                <a:solidFill>
                  <a:srgbClr val="DCEBEA"/>
                </a:solidFill>
                <a:latin typeface="Aptos"/>
              </a:defRPr>
            </a:pPr>
            <a:r>
              <a:t>Определите часть речи слова «стекло»</a:t>
            </a:r>
            <a:br/>
            <a:r>
              <a:t>в каждом предложении. Докажите ответ.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5184648"/>
            <a:ext cx="4526280" cy="384048"/>
          </a:xfrm>
          <a:prstGeom prst="roundRect">
            <a:avLst/>
          </a:prstGeom>
          <a:solidFill>
            <a:srgbClr val="0E5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5266944"/>
            <a:ext cx="4343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Время на обсуждение: 60 секунд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5352" y="1463040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 i="0">
                <a:solidFill>
                  <a:srgbClr val="16747E"/>
                </a:solidFill>
                <a:latin typeface="Aptos"/>
              </a:defRPr>
            </a:pPr>
            <a:r>
              <a:t>ДОКАЗАТЕЛЬСТВО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856231"/>
            <a:ext cx="5230368" cy="1572768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CD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856231"/>
            <a:ext cx="73152" cy="1572768"/>
          </a:xfrm>
          <a:prstGeom prst="rect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3096" y="2103120"/>
            <a:ext cx="438912" cy="438912"/>
          </a:xfrm>
          <a:prstGeom prst="ellipse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210312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600" b="1" i="0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9168" y="205740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 i="0">
                <a:solidFill>
                  <a:srgbClr val="18313D"/>
                </a:solidFill>
                <a:latin typeface="Aptos"/>
              </a:defRPr>
            </a:pPr>
            <a:r>
              <a:t>1. Существительное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569463"/>
            <a:ext cx="470001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defRPr sz="1150" b="0" i="0">
                <a:solidFill>
                  <a:srgbClr val="667983"/>
                </a:solidFill>
                <a:latin typeface="Aptos"/>
              </a:defRPr>
            </a:pPr>
            <a:r>
              <a:t>«Стекло» отвечает на вопрос что?, называет предмет, является подлежащим.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621024"/>
            <a:ext cx="5230368" cy="1572768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CD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6208" y="3621024"/>
            <a:ext cx="73152" cy="1572768"/>
          </a:xfrm>
          <a:prstGeom prst="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3096" y="3867912"/>
            <a:ext cx="438912" cy="438912"/>
          </a:xfrm>
          <a:prstGeom prst="ellipse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86791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600" b="1" i="0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3822191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 i="0">
                <a:solidFill>
                  <a:srgbClr val="18313D"/>
                </a:solidFill>
                <a:latin typeface="Aptos"/>
              </a:defRPr>
            </a:pPr>
            <a:r>
              <a:t>2. Глагол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334256"/>
            <a:ext cx="470001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defRPr sz="1150" b="0" i="0">
                <a:solidFill>
                  <a:srgbClr val="667983"/>
                </a:solidFill>
                <a:latin typeface="Aptos"/>
              </a:defRPr>
            </a:pPr>
            <a:r>
              <a:t>«Стекло» отвечает на вопрос что сделало?, начальная форма — стечь, является сказуемым.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5422392"/>
            <a:ext cx="5230368" cy="457200"/>
          </a:xfrm>
          <a:prstGeom prst="roundRect">
            <a:avLst/>
          </a:prstGeom>
          <a:solidFill>
            <a:srgbClr val="F8E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5532120"/>
            <a:ext cx="4846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1" i="0">
                <a:solidFill>
                  <a:srgbClr val="18313D"/>
                </a:solidFill>
                <a:latin typeface="Aptos"/>
              </a:defRPr>
            </a:pPr>
            <a:r>
              <a:t>Вывод: одинаковые формы разных слов — омоформы.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647395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800" b="1" i="0">
                <a:solidFill>
                  <a:srgbClr val="667983"/>
                </a:solidFill>
                <a:latin typeface="Aptos"/>
              </a:defRPr>
            </a:pPr>
            <a:r>
              <a:t>РУССКИЙ ЯЗЫК • ЛИТЕРАТУРА • ОЛИМПИАДА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43737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00" b="1" i="0">
                <a:solidFill>
                  <a:srgbClr val="667983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E56B4A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8992" y="411480"/>
            <a:ext cx="292608" cy="45720"/>
          </a:xfrm>
          <a:prstGeom prst="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81328" y="256032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6747E"/>
                </a:solidFill>
                <a:latin typeface="Aptos"/>
              </a:defRPr>
            </a:pPr>
            <a:r>
              <a:t>ЛИТЕРАТУРА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5029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700" b="1" i="0">
                <a:solidFill>
                  <a:srgbClr val="18313D"/>
                </a:solidFill>
                <a:latin typeface="Aptos"/>
              </a:defRPr>
            </a:pPr>
            <a:r>
              <a:t>Практика 2. Литературная лаборатория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2286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62456"/>
            <a:ext cx="5641848" cy="2816352"/>
          </a:xfrm>
          <a:prstGeom prst="roundRect">
            <a:avLst/>
          </a:prstGeom>
          <a:solidFill>
            <a:srgbClr val="DCE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90472"/>
            <a:ext cx="5303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900" b="1" i="0">
                <a:solidFill>
                  <a:srgbClr val="16747E"/>
                </a:solidFill>
                <a:latin typeface="Aptos"/>
              </a:defRPr>
            </a:pPr>
            <a:r>
              <a:t>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1819656"/>
            <a:ext cx="44348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defRPr sz="1800" b="1" i="0">
                <a:solidFill>
                  <a:srgbClr val="18313D"/>
                </a:solidFill>
                <a:latin typeface="Aptos"/>
              </a:defRPr>
            </a:pPr>
            <a:r>
              <a:t>Ветер настойчиво стучал в окно. На столе лежало неотправленное письмо. Мальчик прислушивался к шагам на лестнице.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1" i="0">
                <a:solidFill>
                  <a:srgbClr val="0E5962"/>
                </a:solidFill>
                <a:latin typeface="Aptos"/>
              </a:defRPr>
            </a:pPr>
            <a:r>
              <a:t>Определите настроение, найдите приём и объясните роль письма.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0256" y="1417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 i="0">
                <a:solidFill>
                  <a:srgbClr val="E56B4A"/>
                </a:solidFill>
                <a:latin typeface="Aptos"/>
              </a:defRPr>
            </a:pPr>
            <a:r>
              <a:t>ФОРМУЛА ОТВЕТА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1968" y="1847088"/>
            <a:ext cx="4828032" cy="713232"/>
          </a:xfrm>
          <a:prstGeom prst="roundRect">
            <a:avLst/>
          </a:prstGeom>
          <a:solidFill>
            <a:srgbClr val="DCE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93992" y="2020824"/>
            <a:ext cx="987552" cy="347472"/>
          </a:xfrm>
          <a:prstGeom prst="roundRect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039112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ДЕТАЛЬ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1856" y="2020824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18313D"/>
                </a:solidFill>
                <a:latin typeface="Aptos"/>
              </a:defRPr>
            </a:pPr>
            <a:r>
              <a:t>неотправленное письмо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255117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 i="0">
                <a:solidFill>
                  <a:srgbClr val="667983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1968" y="2798064"/>
            <a:ext cx="4828032" cy="713232"/>
          </a:xfrm>
          <a:prstGeom prst="roundRect">
            <a:avLst/>
          </a:prstGeom>
          <a:solidFill>
            <a:srgbClr val="F8E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93992" y="2971800"/>
            <a:ext cx="987552" cy="347472"/>
          </a:xfrm>
          <a:prstGeom prst="round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2990088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ПРИЁМ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91856" y="2971800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18313D"/>
                </a:solidFill>
                <a:latin typeface="Aptos"/>
              </a:defRPr>
            </a:pPr>
            <a:r>
              <a:t>«ветер стучал» — олицетворение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50215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 i="0">
                <a:solidFill>
                  <a:srgbClr val="667983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1968" y="3749039"/>
            <a:ext cx="4828032" cy="713232"/>
          </a:xfrm>
          <a:prstGeom prst="roundRect">
            <a:avLst/>
          </a:prstGeom>
          <a:solidFill>
            <a:srgbClr val="F8E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93992" y="3922776"/>
            <a:ext cx="987552" cy="347472"/>
          </a:xfrm>
          <a:prstGeom prst="roundRect">
            <a:avLst/>
          </a:prstGeom>
          <a:solidFill>
            <a:srgbClr val="E6B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3941063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ЭФФЕКТ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6" y="3922776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18313D"/>
                </a:solidFill>
                <a:latin typeface="Aptos"/>
              </a:defRPr>
            </a:pPr>
            <a:r>
              <a:t>напряжение и беспокойство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44531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 i="0">
                <a:solidFill>
                  <a:srgbClr val="667983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01968" y="4700016"/>
            <a:ext cx="4828032" cy="713232"/>
          </a:xfrm>
          <a:prstGeom prst="roundRect">
            <a:avLst/>
          </a:prstGeom>
          <a:solidFill>
            <a:srgbClr val="DDE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93992" y="4873752"/>
            <a:ext cx="987552" cy="347472"/>
          </a:xfrm>
          <a:prstGeom prst="roundRect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4892040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СМЫСЛ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4873752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18313D"/>
                </a:solidFill>
                <a:latin typeface="Aptos"/>
              </a:defRPr>
            </a:pPr>
            <a:r>
              <a:t>ожидание, нерешительность, недосказанность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443984"/>
            <a:ext cx="5641848" cy="1280160"/>
          </a:xfrm>
          <a:prstGeom prst="roundRect">
            <a:avLst/>
          </a:prstGeom>
          <a:solidFill>
            <a:srgbClr val="12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65429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E6B34A"/>
                </a:solidFill>
                <a:latin typeface="Aptos"/>
              </a:defRPr>
            </a:pPr>
            <a:r>
              <a:t>Критерий полного ответа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074920"/>
            <a:ext cx="4983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FFFFFF"/>
                </a:solidFill>
                <a:latin typeface="Aptos"/>
              </a:defRPr>
            </a:pPr>
            <a:r>
              <a:t>термин + короткая цитата + объяснение роли + вывод о смысле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647395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800" b="1" i="0">
                <a:solidFill>
                  <a:srgbClr val="667983"/>
                </a:solidFill>
                <a:latin typeface="Aptos"/>
              </a:defRPr>
            </a:pPr>
            <a:r>
              <a:t>РУССКИЙ ЯЗЫК • ЛИТЕРАТУРА • ОЛИМПИАДА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43737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00" b="1" i="0">
                <a:solidFill>
                  <a:srgbClr val="667983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E56B4A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8992" y="411480"/>
            <a:ext cx="292608" cy="45720"/>
          </a:xfrm>
          <a:prstGeom prst="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81328" y="256032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6747E"/>
                </a:solidFill>
                <a:latin typeface="Aptos"/>
              </a:defRPr>
            </a:pPr>
            <a:r>
              <a:t>ИНСТРУМЕНТ, А НЕ ЗАМЕНА МЫШЛЕНИЮ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5029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700" b="1" i="0">
                <a:solidFill>
                  <a:srgbClr val="18313D"/>
                </a:solidFill>
                <a:latin typeface="Aptos"/>
              </a:defRPr>
            </a:pPr>
            <a:r>
              <a:t>Современные технологии: где помогают, где мешают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2286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89888"/>
            <a:ext cx="5376672" cy="4297680"/>
          </a:xfrm>
          <a:prstGeom prst="roundRect">
            <a:avLst/>
          </a:prstGeom>
          <a:solidFill>
            <a:srgbClr val="DDE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2688" y="1682496"/>
            <a:ext cx="1298448" cy="347472"/>
          </a:xfrm>
          <a:prstGeom prst="roundRect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700784"/>
            <a:ext cx="12070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ПОМОГАЮТ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2359152"/>
            <a:ext cx="118872" cy="118872"/>
          </a:xfrm>
          <a:prstGeom prst="ellipse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2267712"/>
            <a:ext cx="43708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18313D"/>
                </a:solidFill>
                <a:latin typeface="Aptos"/>
              </a:defRPr>
            </a:pPr>
            <a:r>
              <a:t>онлайн-формы — быстрая диагностика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2944368"/>
            <a:ext cx="118872" cy="118872"/>
          </a:xfrm>
          <a:prstGeom prst="ellipse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852928"/>
            <a:ext cx="43708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18313D"/>
                </a:solidFill>
                <a:latin typeface="Aptos"/>
              </a:defRPr>
            </a:pPr>
            <a:r>
              <a:t>электронные словари и корпус — проверка употребления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529584"/>
            <a:ext cx="118872" cy="118872"/>
          </a:xfrm>
          <a:prstGeom prst="ellipse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8" y="3438144"/>
            <a:ext cx="43708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18313D"/>
                </a:solidFill>
                <a:latin typeface="Aptos"/>
              </a:defRPr>
            </a:pPr>
            <a:r>
              <a:t>общий документ — совместная разметка текста</a:t>
            </a:r>
          </a:p>
        </p:txBody>
      </p:sp>
      <p:sp>
        <p:nvSpPr>
          <p:cNvPr id="16" name="Oval 15"/>
          <p:cNvSpPr/>
          <p:nvPr/>
        </p:nvSpPr>
        <p:spPr>
          <a:xfrm>
            <a:off x="960120" y="4114800"/>
            <a:ext cx="118872" cy="118872"/>
          </a:xfrm>
          <a:prstGeom prst="ellipse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7008" y="4023360"/>
            <a:ext cx="43708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18313D"/>
                </a:solidFill>
                <a:latin typeface="Aptos"/>
              </a:defRPr>
            </a:pPr>
            <a:r>
              <a:t>ИИ — черновики заданий и варианты формулировок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89888"/>
            <a:ext cx="5358384" cy="4297680"/>
          </a:xfrm>
          <a:prstGeom prst="roundRect">
            <a:avLst/>
          </a:prstGeom>
          <a:solidFill>
            <a:srgbClr val="F8E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682496"/>
            <a:ext cx="1170432" cy="347472"/>
          </a:xfrm>
          <a:prstGeom prst="roundRect">
            <a:avLst/>
          </a:prstGeom>
          <a:solidFill>
            <a:srgbClr val="B84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700784"/>
            <a:ext cx="10789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МЕШАЮТ</a:t>
            </a:r>
          </a:p>
        </p:txBody>
      </p:sp>
      <p:sp>
        <p:nvSpPr>
          <p:cNvPr id="21" name="Oval 20"/>
          <p:cNvSpPr/>
          <p:nvPr/>
        </p:nvSpPr>
        <p:spPr>
          <a:xfrm>
            <a:off x="6473952" y="2359152"/>
            <a:ext cx="118872" cy="118872"/>
          </a:xfrm>
          <a:prstGeom prst="ellipse">
            <a:avLst/>
          </a:prstGeom>
          <a:solidFill>
            <a:srgbClr val="B84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267712"/>
            <a:ext cx="43708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18313D"/>
                </a:solidFill>
                <a:latin typeface="Aptos"/>
              </a:defRPr>
            </a:pPr>
            <a:r>
              <a:t>непроверенные ответы и вымышленные примеры</a:t>
            </a:r>
          </a:p>
        </p:txBody>
      </p:sp>
      <p:sp>
        <p:nvSpPr>
          <p:cNvPr id="23" name="Oval 22"/>
          <p:cNvSpPr/>
          <p:nvPr/>
        </p:nvSpPr>
        <p:spPr>
          <a:xfrm>
            <a:off x="6473952" y="2944368"/>
            <a:ext cx="118872" cy="118872"/>
          </a:xfrm>
          <a:prstGeom prst="ellipse">
            <a:avLst/>
          </a:prstGeom>
          <a:solidFill>
            <a:srgbClr val="B84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2852928"/>
            <a:ext cx="43708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18313D"/>
                </a:solidFill>
                <a:latin typeface="Aptos"/>
              </a:defRPr>
            </a:pPr>
            <a:r>
              <a:t>готовая интерпретация вместо чтения текста</a:t>
            </a:r>
          </a:p>
        </p:txBody>
      </p:sp>
      <p:sp>
        <p:nvSpPr>
          <p:cNvPr id="25" name="Oval 24"/>
          <p:cNvSpPr/>
          <p:nvPr/>
        </p:nvSpPr>
        <p:spPr>
          <a:xfrm>
            <a:off x="6473952" y="3529584"/>
            <a:ext cx="118872" cy="118872"/>
          </a:xfrm>
          <a:prstGeom prst="ellipse">
            <a:avLst/>
          </a:prstGeom>
          <a:solidFill>
            <a:srgbClr val="B84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3438144"/>
            <a:ext cx="43708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18313D"/>
                </a:solidFill>
                <a:latin typeface="Aptos"/>
              </a:defRPr>
            </a:pPr>
            <a:r>
              <a:t>тесты без объяснения выбора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4114800"/>
            <a:ext cx="118872" cy="118872"/>
          </a:xfrm>
          <a:prstGeom prst="ellipse">
            <a:avLst/>
          </a:prstGeom>
          <a:solidFill>
            <a:srgbClr val="B84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4023360"/>
            <a:ext cx="43708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18313D"/>
                </a:solidFill>
                <a:latin typeface="Aptos"/>
              </a:defRPr>
            </a:pPr>
            <a:r>
              <a:t>загрузка персональных данных учеников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59152" y="5870448"/>
            <a:ext cx="7479792" cy="384048"/>
          </a:xfrm>
          <a:prstGeom prst="roundRect">
            <a:avLst/>
          </a:prstGeom>
          <a:solidFill>
            <a:srgbClr val="12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14600" y="5952744"/>
            <a:ext cx="7168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00" b="1" i="0">
                <a:solidFill>
                  <a:srgbClr val="FFFFFF"/>
                </a:solidFill>
                <a:latin typeface="Aptos"/>
              </a:defRPr>
            </a:pPr>
            <a:r>
              <a:t>ИИ создаёт черновик  →  учитель проверяет  →  ученик самостоятельно решает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647395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800" b="1" i="0">
                <a:solidFill>
                  <a:srgbClr val="667983"/>
                </a:solidFill>
                <a:latin typeface="Aptos"/>
              </a:defRPr>
            </a:pPr>
            <a:r>
              <a:t>РУССКИЙ ЯЗЫК • ЛИТЕРАТУРА • ОЛИМПИАДА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01400" y="643737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00" b="1" i="0">
                <a:solidFill>
                  <a:srgbClr val="667983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E56B4A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3" name="Rectangle 2"/>
          <p:cNvSpPr/>
          <p:nvPr/>
        </p:nvSpPr>
        <p:spPr>
          <a:xfrm>
            <a:off x="1078992" y="411480"/>
            <a:ext cx="292608" cy="45720"/>
          </a:xfrm>
          <a:prstGeom prst="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81328" y="256032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6747E"/>
                </a:solidFill>
                <a:latin typeface="Aptos"/>
              </a:defRPr>
            </a:pPr>
            <a:r>
              <a:t>БЕЗ ПЕРЕГРУЗКИ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502920"/>
            <a:ext cx="9875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700" b="1" i="0">
                <a:solidFill>
                  <a:srgbClr val="18313D"/>
                </a:solidFill>
                <a:latin typeface="Aptos"/>
              </a:defRPr>
            </a:pPr>
            <a:r>
              <a:t>Компактный план подготовки на четыре недели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22860"/>
          </a:xfrm>
          <a:prstGeom prst="rect">
            <a:avLst/>
          </a:prstGeom>
          <a:solidFill>
            <a:srgbClr val="CD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2359152" cy="4078224"/>
          </a:xfrm>
          <a:prstGeom prst="roundRect">
            <a:avLst/>
          </a:prstGeom>
          <a:solidFill>
            <a:srgbClr val="DCE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53895" y="1783080"/>
            <a:ext cx="768096" cy="768096"/>
          </a:xfrm>
          <a:prstGeom prst="ellipse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53895" y="1783080"/>
            <a:ext cx="76809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2000" b="1" i="0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72491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950" b="1" i="0">
                <a:solidFill>
                  <a:srgbClr val="16747E"/>
                </a:solidFill>
                <a:latin typeface="Aptos"/>
              </a:defRPr>
            </a:pPr>
            <a:r>
              <a:t>НЕДЕЛЯ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26664"/>
            <a:ext cx="18470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18313D"/>
                </a:solidFill>
                <a:latin typeface="Aptos"/>
              </a:defRPr>
            </a:pPr>
            <a:r>
              <a:t>Диагностика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52144" y="3785615"/>
            <a:ext cx="1371600" cy="347472"/>
          </a:xfrm>
          <a:prstGeom prst="roundRect">
            <a:avLst/>
          </a:prstGeom>
          <a:solidFill>
            <a:srgbClr val="FF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97864" y="380390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950" b="1" i="0">
                <a:solidFill>
                  <a:srgbClr val="18313D"/>
                </a:solidFill>
                <a:latin typeface="Aptos"/>
              </a:defRPr>
            </a:pPr>
            <a:r>
              <a:t>20 минут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407408"/>
            <a:ext cx="177393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00" b="0" i="0">
                <a:solidFill>
                  <a:srgbClr val="667983"/>
                </a:solidFill>
                <a:latin typeface="Aptos"/>
              </a:defRPr>
            </a:pPr>
            <a:r>
              <a:t>Выбрать одну сильную сторону и одну зону роста.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1481328"/>
            <a:ext cx="2359152" cy="4078224"/>
          </a:xfrm>
          <a:prstGeom prst="roundRect">
            <a:avLst/>
          </a:prstGeom>
          <a:solidFill>
            <a:srgbClr val="F8E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88536" y="1783080"/>
            <a:ext cx="768096" cy="768096"/>
          </a:xfrm>
          <a:prstGeom prst="ellipse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88536" y="1783080"/>
            <a:ext cx="76809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2000" b="1" i="0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3048" y="272491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950" b="1" i="0">
                <a:solidFill>
                  <a:srgbClr val="E56B4A"/>
                </a:solidFill>
                <a:latin typeface="Aptos"/>
              </a:defRPr>
            </a:pPr>
            <a:r>
              <a:t>НЕДЕЛЯ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026664"/>
            <a:ext cx="18470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18313D"/>
                </a:solidFill>
                <a:latin typeface="Aptos"/>
              </a:defRPr>
            </a:pPr>
            <a:r>
              <a:t>Приёмы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86783" y="3785615"/>
            <a:ext cx="1371600" cy="347472"/>
          </a:xfrm>
          <a:prstGeom prst="roundRect">
            <a:avLst/>
          </a:prstGeom>
          <a:solidFill>
            <a:srgbClr val="FF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32503" y="380390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950" b="1" i="0">
                <a:solidFill>
                  <a:srgbClr val="18313D"/>
                </a:solidFill>
                <a:latin typeface="Aptos"/>
              </a:defRPr>
            </a:pPr>
            <a:r>
              <a:t>2 × 25 минут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5615" y="4407408"/>
            <a:ext cx="177393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00" b="0" i="0">
                <a:solidFill>
                  <a:srgbClr val="667983"/>
                </a:solidFill>
                <a:latin typeface="Aptos"/>
              </a:defRPr>
            </a:pPr>
            <a:r>
              <a:t>Тренировать язык и анализ текста по понятным формулам.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7648" y="1481328"/>
            <a:ext cx="2359152" cy="4078224"/>
          </a:xfrm>
          <a:prstGeom prst="roundRect">
            <a:avLst/>
          </a:prstGeom>
          <a:solidFill>
            <a:srgbClr val="F8E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23176" y="1783080"/>
            <a:ext cx="768096" cy="768096"/>
          </a:xfrm>
          <a:prstGeom prst="ellipse">
            <a:avLst/>
          </a:prstGeom>
          <a:solidFill>
            <a:srgbClr val="E6B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23176" y="1783080"/>
            <a:ext cx="76809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2000" b="1" i="0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7688" y="272491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950" b="1" i="0">
                <a:solidFill>
                  <a:srgbClr val="E6B34A"/>
                </a:solidFill>
                <a:latin typeface="Aptos"/>
              </a:defRPr>
            </a:pPr>
            <a:r>
              <a:t>НЕДЕЛЯ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026664"/>
            <a:ext cx="18470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18313D"/>
                </a:solidFill>
                <a:latin typeface="Aptos"/>
              </a:defRPr>
            </a:pPr>
            <a:r>
              <a:t>Пробная работа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21424" y="3785615"/>
            <a:ext cx="1371600" cy="347472"/>
          </a:xfrm>
          <a:prstGeom prst="roundRect">
            <a:avLst/>
          </a:prstGeom>
          <a:solidFill>
            <a:srgbClr val="FF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380390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950" b="1" i="0">
                <a:solidFill>
                  <a:srgbClr val="18313D"/>
                </a:solidFill>
                <a:latin typeface="Aptos"/>
              </a:defRPr>
            </a:pPr>
            <a:r>
              <a:t>45 минут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0256" y="4407408"/>
            <a:ext cx="177393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00" b="0" i="0">
                <a:solidFill>
                  <a:srgbClr val="667983"/>
                </a:solidFill>
                <a:latin typeface="Aptos"/>
              </a:defRPr>
            </a:pPr>
            <a:r>
              <a:t>Решить вариант по времени и проверить по критериям.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62288" y="1481328"/>
            <a:ext cx="2359152" cy="4078224"/>
          </a:xfrm>
          <a:prstGeom prst="roundRect">
            <a:avLst/>
          </a:prstGeom>
          <a:solidFill>
            <a:srgbClr val="DDE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57815" y="1783080"/>
            <a:ext cx="768096" cy="768096"/>
          </a:xfrm>
          <a:prstGeom prst="ellipse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7815" y="1783080"/>
            <a:ext cx="76809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2000" b="1" i="0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82328" y="272491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950" b="1" i="0">
                <a:solidFill>
                  <a:srgbClr val="4F9B78"/>
                </a:solidFill>
                <a:latin typeface="Aptos"/>
              </a:defRPr>
            </a:pPr>
            <a:r>
              <a:t>НЕДЕЛЯ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3026664"/>
            <a:ext cx="18470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18313D"/>
                </a:solidFill>
                <a:latin typeface="Aptos"/>
              </a:defRPr>
            </a:pPr>
            <a:r>
              <a:t>Коррекция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56063" y="3785615"/>
            <a:ext cx="1371600" cy="347472"/>
          </a:xfrm>
          <a:prstGeom prst="roundRect">
            <a:avLst/>
          </a:prstGeom>
          <a:solidFill>
            <a:srgbClr val="FF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01784" y="380390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950" b="1" i="0">
                <a:solidFill>
                  <a:srgbClr val="18313D"/>
                </a:solidFill>
                <a:latin typeface="Aptos"/>
              </a:defRPr>
            </a:pPr>
            <a:r>
              <a:t>2 × 25 минут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54896" y="4407408"/>
            <a:ext cx="177393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00" b="0" i="0">
                <a:solidFill>
                  <a:srgbClr val="667983"/>
                </a:solidFill>
                <a:latin typeface="Aptos"/>
              </a:defRPr>
            </a:pPr>
            <a:r>
              <a:t>Разобрать причины ошибок и повторить только слабые места.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83664" y="5806440"/>
            <a:ext cx="8430768" cy="438912"/>
          </a:xfrm>
          <a:prstGeom prst="roundRect">
            <a:avLst/>
          </a:prstGeom>
          <a:solidFill>
            <a:srgbClr val="DCE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57400" y="5907024"/>
            <a:ext cx="80832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 i="0">
                <a:solidFill>
                  <a:srgbClr val="0E5962"/>
                </a:solidFill>
                <a:latin typeface="Aptos"/>
              </a:defRPr>
            </a:pPr>
            <a:r>
              <a:t>Оптимальный ритм: короткая практика между занятиями + подробный разбор одной работы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647395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800" b="1" i="0">
                <a:solidFill>
                  <a:srgbClr val="667983"/>
                </a:solidFill>
                <a:latin typeface="Aptos"/>
              </a:defRPr>
            </a:pPr>
            <a:r>
              <a:t>РУССКИЙ ЯЗЫК • ЛИТЕРАТУРА • ОЛИМПИАДА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01400" y="643737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00" b="1" i="0">
                <a:solidFill>
                  <a:srgbClr val="667983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93776"/>
            <a:ext cx="841248" cy="347472"/>
          </a:xfrm>
          <a:prstGeom prst="round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512064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t>ИТОГ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FFFFFF"/>
                </a:solidFill>
                <a:latin typeface="Aptos"/>
              </a:defRPr>
            </a:pPr>
            <a:r>
              <a:t>Формула устойчивого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837943"/>
            <a:ext cx="74066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0" i="0">
                <a:solidFill>
                  <a:srgbClr val="DCEBEA"/>
                </a:solidFill>
                <a:latin typeface="Aptos"/>
              </a:defRPr>
            </a:pPr>
            <a:r>
              <a:t>Победа начинается не со сложного задания, а с понятной системы работы.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615184"/>
            <a:ext cx="1627632" cy="658368"/>
          </a:xfrm>
          <a:prstGeom prst="roundRect">
            <a:avLst/>
          </a:prstGeom>
          <a:solidFill>
            <a:srgbClr val="167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807208"/>
            <a:ext cx="14813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00" b="1" i="0">
                <a:solidFill>
                  <a:srgbClr val="FFFFFF"/>
                </a:solidFill>
                <a:latin typeface="Aptos"/>
              </a:defRPr>
            </a:pPr>
            <a:r>
              <a:t>СИСТЕМА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2575" y="27706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7168" y="2615184"/>
            <a:ext cx="2240280" cy="658368"/>
          </a:xfrm>
          <a:prstGeom prst="roundRect">
            <a:avLst/>
          </a:prstGeom>
          <a:solidFill>
            <a:srgbClr val="E5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807208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00" b="1" i="0">
                <a:solidFill>
                  <a:srgbClr val="FFFFFF"/>
                </a:solidFill>
                <a:latin typeface="Aptos"/>
              </a:defRPr>
            </a:pPr>
            <a:r>
              <a:t>РАССУЖДЕНИЕ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27706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28616" y="2615184"/>
            <a:ext cx="1261872" cy="658368"/>
          </a:xfrm>
          <a:prstGeom prst="roundRect">
            <a:avLst/>
          </a:prstGeom>
          <a:solidFill>
            <a:srgbClr val="E6B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1768" y="2807208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00" b="1" i="0">
                <a:solidFill>
                  <a:srgbClr val="FFFFFF"/>
                </a:solidFill>
                <a:latin typeface="Aptos"/>
              </a:defRPr>
            </a:pPr>
            <a:r>
              <a:t>ТЕКСТ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706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2615184"/>
            <a:ext cx="2487168" cy="658368"/>
          </a:xfrm>
          <a:prstGeom prst="roundRect">
            <a:avLst/>
          </a:prstGeom>
          <a:solidFill>
            <a:srgbClr val="4F9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280720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00" b="1" i="0">
                <a:solidFill>
                  <a:srgbClr val="FFFFFF"/>
                </a:solidFill>
                <a:latin typeface="Aptos"/>
              </a:defRPr>
            </a:pPr>
            <a:r>
              <a:t>ОБРАТНАЯ СВЯЗЬ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758952"/>
            <a:ext cx="3337560" cy="5349240"/>
          </a:xfrm>
          <a:prstGeom prst="roundRect">
            <a:avLst/>
          </a:prstGeom>
          <a:solidFill>
            <a:srgbClr val="FF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11430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 i="0">
                <a:solidFill>
                  <a:srgbClr val="0E5962"/>
                </a:solidFill>
                <a:latin typeface="Aptos"/>
              </a:defRPr>
            </a:pPr>
            <a:r>
              <a:t>ЧЕК-ЛИСТ ПЕДАГОГА</a:t>
            </a:r>
          </a:p>
        </p:txBody>
      </p:sp>
      <p:sp>
        <p:nvSpPr>
          <p:cNvPr id="19" name="Oval 18"/>
          <p:cNvSpPr/>
          <p:nvPr/>
        </p:nvSpPr>
        <p:spPr>
          <a:xfrm>
            <a:off x="8549640" y="1783080"/>
            <a:ext cx="310896" cy="310896"/>
          </a:xfrm>
          <a:prstGeom prst="ellipse">
            <a:avLst/>
          </a:prstGeom>
          <a:solidFill>
            <a:srgbClr val="DDEDE4"/>
          </a:solidFill>
          <a:ln w="12700">
            <a:solidFill>
              <a:srgbClr val="4F9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17830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4F9B78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1801368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70" b="1" i="0">
                <a:solidFill>
                  <a:srgbClr val="18313D"/>
                </a:solidFill>
                <a:latin typeface="Aptos"/>
              </a:defRPr>
            </a:pPr>
            <a:r>
              <a:t>Есть конкретная цель</a:t>
            </a:r>
          </a:p>
        </p:txBody>
      </p:sp>
      <p:sp>
        <p:nvSpPr>
          <p:cNvPr id="22" name="Oval 21"/>
          <p:cNvSpPr/>
          <p:nvPr/>
        </p:nvSpPr>
        <p:spPr>
          <a:xfrm>
            <a:off x="8549640" y="2441448"/>
            <a:ext cx="310896" cy="310896"/>
          </a:xfrm>
          <a:prstGeom prst="ellipse">
            <a:avLst/>
          </a:prstGeom>
          <a:solidFill>
            <a:srgbClr val="DDEDE4"/>
          </a:solidFill>
          <a:ln w="12700">
            <a:solidFill>
              <a:srgbClr val="4F9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9640" y="24414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4F9B78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5984" y="2459736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70" b="1" i="0">
                <a:solidFill>
                  <a:srgbClr val="18313D"/>
                </a:solidFill>
                <a:latin typeface="Aptos"/>
              </a:defRPr>
            </a:pPr>
            <a:r>
              <a:t>Задание требует доказательства</a:t>
            </a:r>
          </a:p>
        </p:txBody>
      </p:sp>
      <p:sp>
        <p:nvSpPr>
          <p:cNvPr id="25" name="Oval 24"/>
          <p:cNvSpPr/>
          <p:nvPr/>
        </p:nvSpPr>
        <p:spPr>
          <a:xfrm>
            <a:off x="8549640" y="3099815"/>
            <a:ext cx="310896" cy="310896"/>
          </a:xfrm>
          <a:prstGeom prst="ellipse">
            <a:avLst/>
          </a:prstGeom>
          <a:solidFill>
            <a:srgbClr val="DDEDE4"/>
          </a:solidFill>
          <a:ln w="12700">
            <a:solidFill>
              <a:srgbClr val="4F9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9640" y="309981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4F9B78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3118103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70" b="1" i="0">
                <a:solidFill>
                  <a:srgbClr val="18313D"/>
                </a:solidFill>
                <a:latin typeface="Aptos"/>
              </a:defRPr>
            </a:pPr>
            <a:r>
              <a:t>Критерии известны заранее</a:t>
            </a:r>
          </a:p>
        </p:txBody>
      </p:sp>
      <p:sp>
        <p:nvSpPr>
          <p:cNvPr id="28" name="Oval 27"/>
          <p:cNvSpPr/>
          <p:nvPr/>
        </p:nvSpPr>
        <p:spPr>
          <a:xfrm>
            <a:off x="8549640" y="3758184"/>
            <a:ext cx="310896" cy="310896"/>
          </a:xfrm>
          <a:prstGeom prst="ellipse">
            <a:avLst/>
          </a:prstGeom>
          <a:solidFill>
            <a:srgbClr val="DDEDE4"/>
          </a:solidFill>
          <a:ln w="12700">
            <a:solidFill>
              <a:srgbClr val="4F9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375818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4F9B78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5984" y="3776472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70" b="1" i="0">
                <a:solidFill>
                  <a:srgbClr val="18313D"/>
                </a:solidFill>
                <a:latin typeface="Aptos"/>
              </a:defRPr>
            </a:pPr>
            <a:r>
              <a:t>Ошибка разобрана по причине</a:t>
            </a:r>
          </a:p>
        </p:txBody>
      </p:sp>
      <p:sp>
        <p:nvSpPr>
          <p:cNvPr id="31" name="Oval 30"/>
          <p:cNvSpPr/>
          <p:nvPr/>
        </p:nvSpPr>
        <p:spPr>
          <a:xfrm>
            <a:off x="8549640" y="4416552"/>
            <a:ext cx="310896" cy="310896"/>
          </a:xfrm>
          <a:prstGeom prst="ellipse">
            <a:avLst/>
          </a:prstGeom>
          <a:solidFill>
            <a:srgbClr val="DDEDE4"/>
          </a:solidFill>
          <a:ln w="12700">
            <a:solidFill>
              <a:srgbClr val="4F9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44165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4F9B78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5984" y="4434840"/>
            <a:ext cx="2057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70" b="1" i="0">
                <a:solidFill>
                  <a:srgbClr val="18313D"/>
                </a:solidFill>
                <a:latin typeface="Aptos"/>
              </a:defRPr>
            </a:pPr>
            <a:r>
              <a:t>Назначено следующее действие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867912"/>
            <a:ext cx="7132320" cy="1005840"/>
          </a:xfrm>
          <a:prstGeom prst="roundRect">
            <a:avLst/>
          </a:prstGeom>
          <a:solidFill>
            <a:srgbClr val="0E5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4123944"/>
            <a:ext cx="6583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700" b="1" i="0">
                <a:solidFill>
                  <a:srgbClr val="FFFFFF"/>
                </a:solidFill>
                <a:latin typeface="Aptos"/>
              </a:defRPr>
            </a:pPr>
            <a:r>
              <a:t>Рефлексия: какой один приём вы примените уже на ближайшем занятии?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" y="5394960"/>
            <a:ext cx="44805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000" b="1" i="0">
                <a:solidFill>
                  <a:srgbClr val="E6B34A"/>
                </a:solidFill>
                <a:latin typeface="Aptos"/>
              </a:defRPr>
            </a:pPr>
            <a:r>
              <a:t>Спасибо за работу!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5897880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DCEBEA"/>
                </a:solidFill>
                <a:latin typeface="Aptos"/>
              </a:defRPr>
            </a:pPr>
            <a:r>
              <a:t>Диагностика → цель → тренировка → объяснение → проба → коррекция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" y="647395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800" b="1" i="0">
                <a:solidFill>
                  <a:srgbClr val="FFFFFF"/>
                </a:solidFill>
                <a:latin typeface="Aptos"/>
              </a:defRPr>
            </a:pPr>
            <a:r>
              <a:t>РУССКИЙ ЯЗЫК • ЛИТЕРАТУРА • ОЛИМПИАДА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643737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00" b="1" i="0">
                <a:solidFill>
                  <a:srgbClr val="FFFFFF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