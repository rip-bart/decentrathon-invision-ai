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514600" cy="347472"/>
          </a:xfrm>
          <a:prstGeom prst="round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212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МАСТЕР-КЛАСС ДЛЯ ПЕДАГОГОВ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67208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Эффективные методы</a:t>
            </a:r>
            <a:br/>
            <a:r>
              <a:t>подготовки к олимпиадам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962656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E6B34A"/>
                </a:solidFill>
                <a:latin typeface="Aptos"/>
              </a:defRPr>
            </a:pPr>
            <a:r>
              <a:t>по русскому языку и литературе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767328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DCEBEA"/>
                </a:solidFill>
                <a:latin typeface="Aptos"/>
              </a:defRPr>
            </a:pPr>
            <a:r>
              <a:t>Опыт  •  анализ  •  современные технологии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416552"/>
            <a:ext cx="5532120" cy="27432"/>
          </a:xfrm>
          <a:prstGeom prst="rect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36008"/>
            <a:ext cx="5760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40 минут  |  10 слайдов  |  практические задания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DCEBEA"/>
                </a:solidFill>
                <a:latin typeface="Aptos"/>
              </a:defRPr>
            </a:pPr>
            <a:r>
              <a:t>Автор: ____________________</a:t>
            </a:r>
            <a:br/>
            <a:r>
              <a:t>Организация: ____________________</a:t>
            </a:r>
          </a:p>
        </p:txBody>
      </p:sp>
      <p:sp>
        <p:nvSpPr>
          <p:cNvPr id="10" name="Oval 9"/>
          <p:cNvSpPr/>
          <p:nvPr/>
        </p:nvSpPr>
        <p:spPr>
          <a:xfrm>
            <a:off x="8321040" y="841248"/>
            <a:ext cx="3182112" cy="3182112"/>
          </a:xfrm>
          <a:prstGeom prst="ellipse">
            <a:avLst/>
          </a:prstGeom>
          <a:solidFill>
            <a:srgbClr val="0E5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1180000">
            <a:off x="7680960" y="1856231"/>
            <a:ext cx="1847088" cy="251460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420000">
            <a:off x="9445752" y="1856231"/>
            <a:ext cx="1847088" cy="251460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81744" y="2048256"/>
            <a:ext cx="54864" cy="2148840"/>
          </a:xfrm>
          <a:prstGeom prst="rect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286000"/>
            <a:ext cx="1115568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2670048"/>
            <a:ext cx="1298448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3054096"/>
            <a:ext cx="1005840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3438144"/>
            <a:ext cx="1225296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02368" y="2286000"/>
            <a:ext cx="1170432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02368" y="2670048"/>
            <a:ext cx="969264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02368" y="3054096"/>
            <a:ext cx="1280160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02368" y="3438144"/>
            <a:ext cx="1097280" cy="36576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43800" y="4809744"/>
            <a:ext cx="1005840" cy="347472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82803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E56B4A"/>
                </a:solidFill>
                <a:latin typeface="Aptos"/>
              </a:defRPr>
            </a:pPr>
            <a:r>
              <a:t>СЛОВО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5120640"/>
            <a:ext cx="1078992" cy="347472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5138927"/>
            <a:ext cx="9875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18313D"/>
                </a:solidFill>
                <a:latin typeface="Aptos"/>
              </a:defRPr>
            </a:pPr>
            <a:r>
              <a:t>СМЫСЛ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4736592"/>
            <a:ext cx="1353312" cy="347472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754879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4F9B78"/>
                </a:solidFill>
                <a:latin typeface="Aptos"/>
              </a:defRPr>
            </a:pPr>
            <a:r>
              <a:t>ДОКАЗАТЬ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НЕ НАБОР ПРАВИЛ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Что на самом деле проверяет олимпиада?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667983"/>
                </a:solidFill>
                <a:latin typeface="Aptos"/>
              </a:defRPr>
            </a:pPr>
            <a:r>
              <a:t>ЗНАТЬ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1344168"/>
            <a:ext cx="6583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2800" b="1" i="0">
                <a:solidFill>
                  <a:srgbClr val="E56B4A"/>
                </a:solidFill>
                <a:latin typeface="Aptos"/>
              </a:defRPr>
            </a:pPr>
            <a: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417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16747E"/>
                </a:solidFill>
                <a:latin typeface="Aptos"/>
              </a:defRPr>
            </a:pPr>
            <a:r>
              <a:t>ПРИМЕНЯТЬ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5413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Олимпиадный результат появляется, когда ученик выполняет четыре действия: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48840"/>
            <a:ext cx="2176272" cy="2542032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350008"/>
            <a:ext cx="530352" cy="53035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5000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90672"/>
            <a:ext cx="1773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Увидеть закономерность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1773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Сравнить примеры и заметить, что именно меняется.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2148840"/>
            <a:ext cx="2176272" cy="2542032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85615" y="2350008"/>
            <a:ext cx="530352" cy="53035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235000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5" y="3090672"/>
            <a:ext cx="1773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Выдвинуть гипотезу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3858768"/>
            <a:ext cx="1773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Сформулировать возможное объяснение своими словами.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2148840"/>
            <a:ext cx="2176272" cy="2542032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56831" y="2350008"/>
            <a:ext cx="530352" cy="530352"/>
          </a:xfrm>
          <a:prstGeom prst="ellipse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1" y="235000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1" y="3090672"/>
            <a:ext cx="1773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Доказать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3858768"/>
            <a:ext cx="1773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Подтвердить ответ признаками, цитатой или контрпримером.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48840"/>
            <a:ext cx="2176272" cy="2542032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28048" y="2350008"/>
            <a:ext cx="530352" cy="53035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235000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3090672"/>
            <a:ext cx="1773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Точно оформить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3858768"/>
            <a:ext cx="17739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Дать полный ответ без лишних рассуждений и двусмысленности.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074920"/>
            <a:ext cx="10789920" cy="749808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28523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E6B34A"/>
                </a:solidFill>
                <a:latin typeface="Aptos"/>
              </a:defRPr>
            </a:pPr>
            <a:r>
              <a:t>Фокус подготовки: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7752" y="5248656"/>
            <a:ext cx="8156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не «сколько заданий решено», а «как ученик объясняет решение»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ОТ ОТБОРА ДО КОРРЕКЦИИ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Система подготовки: шесть последовательных шагов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2456" y="2313432"/>
            <a:ext cx="1170432" cy="4572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856231"/>
            <a:ext cx="841248" cy="841248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1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Диагностика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Что уже умеет?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313432"/>
            <a:ext cx="1170432" cy="4572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42032" y="1856231"/>
            <a:ext cx="841248" cy="841248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Цель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Одна зона роста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3" y="2313432"/>
            <a:ext cx="1170432" cy="4572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5696" y="1856231"/>
            <a:ext cx="841248" cy="841248"/>
          </a:xfrm>
          <a:prstGeom prst="ellipse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Тренировка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4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Приём + практика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8" y="2313432"/>
            <a:ext cx="1170432" cy="4572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0" y="1856231"/>
            <a:ext cx="841248" cy="841248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Объяснение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Почему так?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7112" y="2313432"/>
            <a:ext cx="1170432" cy="4572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93024" y="1856231"/>
            <a:ext cx="841248" cy="841248"/>
          </a:xfrm>
          <a:prstGeom prst="ellipse">
            <a:avLst/>
          </a:prstGeom>
          <a:solidFill>
            <a:srgbClr val="0E5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Пробная работа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Время и критерии</a:t>
            </a:r>
          </a:p>
        </p:txBody>
      </p:sp>
      <p:sp>
        <p:nvSpPr>
          <p:cNvPr id="32" name="Oval 31"/>
          <p:cNvSpPr/>
          <p:nvPr/>
        </p:nvSpPr>
        <p:spPr>
          <a:xfrm>
            <a:off x="10076688" y="1856231"/>
            <a:ext cx="841248" cy="841248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1865376"/>
            <a:ext cx="8412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88950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313D"/>
                </a:solidFill>
                <a:latin typeface="Aptos"/>
              </a:defRPr>
            </a:pPr>
            <a:r>
              <a:t>Коррекция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5" y="3410712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0" i="0">
                <a:solidFill>
                  <a:srgbClr val="667983"/>
                </a:solidFill>
                <a:latin typeface="Aptos"/>
              </a:defRPr>
            </a:pPr>
            <a:r>
              <a:t>Следующее действие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370832"/>
            <a:ext cx="5084064" cy="1188720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599432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E5962"/>
                </a:solidFill>
                <a:latin typeface="Aptos"/>
              </a:defRPr>
            </a:pPr>
            <a:r>
              <a:t>Индивидуальный маршрут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020056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18313D"/>
                </a:solidFill>
                <a:latin typeface="Aptos"/>
              </a:defRPr>
            </a:pPr>
            <a:r>
              <a:t>сильная сторона  +  одна измеримая зона роста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62472" y="4370832"/>
            <a:ext cx="5413248" cy="1188720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45994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E56B4A"/>
                </a:solidFill>
                <a:latin typeface="Aptos"/>
              </a:defRPr>
            </a:pPr>
            <a:r>
              <a:t>Главный принцип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02005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18313D"/>
                </a:solidFill>
                <a:latin typeface="Aptos"/>
              </a:defRPr>
            </a:pPr>
            <a:r>
              <a:t>каждая ошибка заканчивается конкретным следующим заданием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НЕ ОЦЕНКА, А КАРТА ЗАТРУДНЕНИЙ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Диагностика за 20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358384" cy="31821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618488"/>
            <a:ext cx="1536192" cy="347472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36776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0E5962"/>
                </a:solidFill>
                <a:latin typeface="Aptos"/>
              </a:defRPr>
            </a:pPr>
            <a:r>
              <a:t>РУССКИЙ ЯЗЫК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267712"/>
            <a:ext cx="118872" cy="11887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76272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лексика и значение слова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2779776"/>
            <a:ext cx="118872" cy="11887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88336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морфология и формы слов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3291840"/>
            <a:ext cx="118872" cy="11887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синтаксис и пунктуация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118872" cy="11887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12464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редактирование и доказательство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353312"/>
            <a:ext cx="5340096" cy="31821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83096" y="1618488"/>
            <a:ext cx="1298448" cy="347472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636776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E56B4A"/>
                </a:solidFill>
                <a:latin typeface="Aptos"/>
              </a:defRPr>
            </a:pPr>
            <a:r>
              <a:t>ЛИТЕРАТУРА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2267712"/>
            <a:ext cx="118872" cy="11887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3" y="2176272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понимание фактов текста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2779776"/>
            <a:ext cx="118872" cy="11887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3" y="2688336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художественная деталь</a:t>
            </a:r>
          </a:p>
        </p:txBody>
      </p:sp>
      <p:sp>
        <p:nvSpPr>
          <p:cNvPr id="25" name="Oval 24"/>
          <p:cNvSpPr/>
          <p:nvPr/>
        </p:nvSpPr>
        <p:spPr>
          <a:xfrm>
            <a:off x="6483096" y="3291840"/>
            <a:ext cx="118872" cy="11887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3" y="3200400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средство → эффект → смысл</a:t>
            </a:r>
          </a:p>
        </p:txBody>
      </p:sp>
      <p:sp>
        <p:nvSpPr>
          <p:cNvPr id="27" name="Oval 26"/>
          <p:cNvSpPr/>
          <p:nvPr/>
        </p:nvSpPr>
        <p:spPr>
          <a:xfrm>
            <a:off x="6483096" y="3803904"/>
            <a:ext cx="118872" cy="11887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3" y="3712464"/>
            <a:ext cx="42793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0" i="0">
                <a:solidFill>
                  <a:srgbClr val="18313D"/>
                </a:solidFill>
                <a:latin typeface="Aptos"/>
              </a:defRPr>
            </a:pPr>
            <a:r>
              <a:t>аргументация цитатой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6747E"/>
                </a:solidFill>
                <a:latin typeface="Aptos"/>
              </a:defRPr>
            </a:pPr>
            <a:r>
              <a:t>КАРТА ПРОДВИЖЕНИЯ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138928"/>
            <a:ext cx="3063240" cy="877824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266944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67983"/>
                </a:solidFill>
                <a:latin typeface="Aptos"/>
              </a:defRPr>
            </a:pPr>
            <a:r>
              <a:t>Ошибка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559552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Приём назван, роль не объяснена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13632" y="5138928"/>
            <a:ext cx="3429000" cy="877824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526694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67983"/>
                </a:solidFill>
                <a:latin typeface="Aptos"/>
              </a:defRPr>
            </a:pPr>
            <a:r>
              <a:t>Причина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5559552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Термин выучен без связи со смыслом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5138928"/>
            <a:ext cx="3995928" cy="877824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5266944"/>
            <a:ext cx="3630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67983"/>
                </a:solidFill>
                <a:latin typeface="Aptos"/>
              </a:defRPr>
            </a:pPr>
            <a:r>
              <a:t>Следующее действие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1" y="5559552"/>
            <a:ext cx="3630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3 фрагмента по формуле «приём → эффект»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КОРОТКО, РЕГУЛЯРНО, С ОБЪЯСНЕНИЕМ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Четыре метода, которые работают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5376672" cy="1956816"/>
          </a:xfrm>
          <a:prstGeom prst="roundRect">
            <a:avLst/>
          </a:prstGeom>
          <a:solidFill>
            <a:srgbClr val="DCEBEA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9888"/>
            <a:ext cx="73152" cy="1956816"/>
          </a:xfrm>
          <a:prstGeom prst="rect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1636776"/>
            <a:ext cx="438912" cy="43891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63677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91056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Лингвистический детектив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8463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Найти закономерность → сформулировать гипотезу → подтвердить двумя примерами.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89888"/>
            <a:ext cx="5358384" cy="1956816"/>
          </a:xfrm>
          <a:prstGeom prst="roundRect">
            <a:avLst/>
          </a:prstGeom>
          <a:solidFill>
            <a:srgbClr val="F8E3DC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89888"/>
            <a:ext cx="73152" cy="1956816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1636776"/>
            <a:ext cx="438912" cy="43891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3677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591056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Редакторская мастерская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8280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Исправить ошибку, назвать её тип и объяснить, почему новый вариант точнее.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47872"/>
            <a:ext cx="5376672" cy="1956816"/>
          </a:xfrm>
          <a:prstGeom prst="roundRect">
            <a:avLst/>
          </a:prstGeom>
          <a:solidFill>
            <a:srgbClr val="F8EDCF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47872"/>
            <a:ext cx="73152" cy="1956816"/>
          </a:xfrm>
          <a:prstGeom prst="rect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6" y="3794760"/>
            <a:ext cx="438912" cy="438912"/>
          </a:xfrm>
          <a:prstGeom prst="ellipse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749039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Читательская лаборатория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261104"/>
            <a:ext cx="48463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Деталь → средство выразительности → эффект → смысл текста.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47872"/>
            <a:ext cx="5358384" cy="1956816"/>
          </a:xfrm>
          <a:prstGeom prst="roundRect">
            <a:avLst/>
          </a:prstGeom>
          <a:solidFill>
            <a:srgbClr val="DDEDE4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47872"/>
            <a:ext cx="73152" cy="1956816"/>
          </a:xfrm>
          <a:prstGeom prst="rect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9088" y="3794760"/>
            <a:ext cx="438912" cy="43891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749039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Объясни другому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261104"/>
            <a:ext cx="48280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Ученик проговаривает ход решения. Партнёр задаёт один уточняющий вопрос.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9584" y="5760720"/>
            <a:ext cx="5138928" cy="457200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5861304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Ритм: 5 минут на каждом уроке + 1 глубокое занятие в неделю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РУССКИЙ ЯЗЫК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Практика 1. Лингвистический детектив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166360" cy="4517136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664208"/>
            <a:ext cx="1051560" cy="347472"/>
          </a:xfrm>
          <a:prstGeom prst="round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82496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ЗАДАНИЕ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26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Стекло заблестело на солнце.</a:t>
            </a:r>
            <a:br/>
            <a:br/>
            <a:r>
              <a:t>Молоко стекло на пол.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05072"/>
            <a:ext cx="441655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DCEBEA"/>
                </a:solidFill>
                <a:latin typeface="Aptos"/>
              </a:defRPr>
            </a:pPr>
            <a:r>
              <a:t>Определите часть речи слова «стекло»</a:t>
            </a:r>
            <a:br/>
            <a:r>
              <a:t>в каждом предложении. Докажите ответ.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5184648"/>
            <a:ext cx="4526280" cy="384048"/>
          </a:xfrm>
          <a:prstGeom prst="roundRect">
            <a:avLst/>
          </a:prstGeom>
          <a:solidFill>
            <a:srgbClr val="0E5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266944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Время на обсуждение: 60 секунд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463040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6747E"/>
                </a:solidFill>
                <a:latin typeface="Aptos"/>
              </a:defRPr>
            </a:pPr>
            <a:r>
              <a:t>ДОКАЗАТЕЛЬСТВО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856231"/>
            <a:ext cx="5230368" cy="1572768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856231"/>
            <a:ext cx="73152" cy="1572768"/>
          </a:xfrm>
          <a:prstGeom prst="rect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2103120"/>
            <a:ext cx="438912" cy="438912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1031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574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1. Существительное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569463"/>
            <a:ext cx="47000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«Стекло» отвечает на вопрос что?, называет предмет, является подлежащим.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621024"/>
            <a:ext cx="5230368" cy="1572768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CDD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621024"/>
            <a:ext cx="73152" cy="1572768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3096" y="3867912"/>
            <a:ext cx="438912" cy="438912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86791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822191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8313D"/>
                </a:solidFill>
                <a:latin typeface="Aptos"/>
              </a:defRPr>
            </a:pPr>
            <a:r>
              <a:t>2. Глагол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34256"/>
            <a:ext cx="47000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150" b="0" i="0">
                <a:solidFill>
                  <a:srgbClr val="667983"/>
                </a:solidFill>
                <a:latin typeface="Aptos"/>
              </a:defRPr>
            </a:pPr>
            <a:r>
              <a:t>«Стекло» отвечает на вопрос что сделало?, начальная форма — стечь, является сказуемым.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5422392"/>
            <a:ext cx="5230368" cy="457200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553212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18313D"/>
                </a:solidFill>
                <a:latin typeface="Aptos"/>
              </a:defRPr>
            </a:pPr>
            <a:r>
              <a:t>Вывод: одинаковые формы разных слов — омоформы.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ЛИТЕРАТУРА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Практика 2. Литературная лаборатория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62456"/>
            <a:ext cx="5641848" cy="2816352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530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900" b="1" i="0">
                <a:solidFill>
                  <a:srgbClr val="16747E"/>
                </a:solidFill>
                <a:latin typeface="Aptos"/>
              </a:defRPr>
            </a:pPr>
            <a:r>
              <a:t>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19656"/>
            <a:ext cx="4434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defRPr sz="1800" b="1" i="0">
                <a:solidFill>
                  <a:srgbClr val="18313D"/>
                </a:solidFill>
                <a:latin typeface="Aptos"/>
              </a:defRPr>
            </a:pPr>
            <a:r>
              <a:t>Ветер настойчиво стучал в окно. На столе лежало неотправленное письмо. Мальчик прислушивался к шагам на лестнице.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0E5962"/>
                </a:solidFill>
                <a:latin typeface="Aptos"/>
              </a:defRPr>
            </a:pPr>
            <a:r>
              <a:t>Определите настроение, найдите приём и объясните роль письма.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1417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E56B4A"/>
                </a:solidFill>
                <a:latin typeface="Aptos"/>
              </a:defRPr>
            </a:pPr>
            <a:r>
              <a:t>ФОРМУЛА ОТВЕТА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847088"/>
            <a:ext cx="4828032" cy="713232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93992" y="2020824"/>
            <a:ext cx="987552" cy="347472"/>
          </a:xfrm>
          <a:prstGeom prst="roundRect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039112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ДЕТАЛЬ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2020824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неотправленное письмо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55117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66798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1968" y="2798064"/>
            <a:ext cx="4828032" cy="713232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2971800"/>
            <a:ext cx="987552" cy="347472"/>
          </a:xfrm>
          <a:prstGeom prst="round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990088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ПРИЁМ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97180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«ветер стучал» — олицетворение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50215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66798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1968" y="3749039"/>
            <a:ext cx="4828032" cy="713232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3992" y="3922776"/>
            <a:ext cx="987552" cy="347472"/>
          </a:xfrm>
          <a:prstGeom prst="roundRect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3941063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ЭФФЕКТ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3922776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напряжение и беспокойство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45312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66798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4700016"/>
            <a:ext cx="4828032" cy="713232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93992" y="4873752"/>
            <a:ext cx="987552" cy="347472"/>
          </a:xfrm>
          <a:prstGeom prst="roundRect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892040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СМЫСЛ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487375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18313D"/>
                </a:solidFill>
                <a:latin typeface="Aptos"/>
              </a:defRPr>
            </a:pPr>
            <a:r>
              <a:t>ожидание, нерешительность, недосказанность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443984"/>
            <a:ext cx="5641848" cy="1280160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65429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E6B34A"/>
                </a:solidFill>
                <a:latin typeface="Aptos"/>
              </a:defRPr>
            </a:pPr>
            <a:r>
              <a:t>Критерий полного ответа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074920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термин + короткая цитата + объяснение роли + вывод о смысле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ИНСТРУМЕНТ, А НЕ ЗАМЕНА МЫШЛЕНИЮ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Современные технологии: где помогают, где мешают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5376672" cy="4297680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682496"/>
            <a:ext cx="1298448" cy="347472"/>
          </a:xfrm>
          <a:prstGeom prst="roundRect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00784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ПОМОГАЮТ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359152"/>
            <a:ext cx="118872" cy="11887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267712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онлайн-формы — быстрая диагностика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944368"/>
            <a:ext cx="118872" cy="11887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852928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электронные словари и корпус — проверка употребления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529584"/>
            <a:ext cx="118872" cy="11887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438144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общий документ — совместная разметка текста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114800"/>
            <a:ext cx="118872" cy="118872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023360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ИИ — черновики заданий и варианты формулировок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89888"/>
            <a:ext cx="5358384" cy="4297680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682496"/>
            <a:ext cx="1170432" cy="347472"/>
          </a:xfrm>
          <a:prstGeom prst="roundRect">
            <a:avLst/>
          </a:prstGeom>
          <a:solidFill>
            <a:srgbClr val="B8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0078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МЕШАЮТ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2359152"/>
            <a:ext cx="118872" cy="118872"/>
          </a:xfrm>
          <a:prstGeom prst="ellipse">
            <a:avLst/>
          </a:prstGeom>
          <a:solidFill>
            <a:srgbClr val="B8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67712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непроверенные ответы и вымышленные примеры</a:t>
            </a:r>
          </a:p>
        </p:txBody>
      </p:sp>
      <p:sp>
        <p:nvSpPr>
          <p:cNvPr id="23" name="Oval 22"/>
          <p:cNvSpPr/>
          <p:nvPr/>
        </p:nvSpPr>
        <p:spPr>
          <a:xfrm>
            <a:off x="6473952" y="2944368"/>
            <a:ext cx="118872" cy="118872"/>
          </a:xfrm>
          <a:prstGeom prst="ellipse">
            <a:avLst/>
          </a:prstGeom>
          <a:solidFill>
            <a:srgbClr val="B8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852928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готовая интерпретация вместо чтения текста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3529584"/>
            <a:ext cx="118872" cy="118872"/>
          </a:xfrm>
          <a:prstGeom prst="ellipse">
            <a:avLst/>
          </a:prstGeom>
          <a:solidFill>
            <a:srgbClr val="B8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438144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тесты без объяснения выбора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4114800"/>
            <a:ext cx="118872" cy="118872"/>
          </a:xfrm>
          <a:prstGeom prst="ellipse">
            <a:avLst/>
          </a:prstGeom>
          <a:solidFill>
            <a:srgbClr val="B84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023360"/>
            <a:ext cx="43708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18313D"/>
                </a:solidFill>
                <a:latin typeface="Aptos"/>
              </a:defRPr>
            </a:pPr>
            <a:r>
              <a:t>загрузка персональных данных учеников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9152" y="5870448"/>
            <a:ext cx="7479792" cy="384048"/>
          </a:xfrm>
          <a:prstGeom prst="round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952744"/>
            <a:ext cx="7168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ИИ создаёт черновик  →  учитель проверяет  →  ученик самостоятельно решает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E56B4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11480"/>
            <a:ext cx="292608" cy="4572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256032"/>
            <a:ext cx="4572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6747E"/>
                </a:solidFill>
                <a:latin typeface="Aptos"/>
              </a:defRPr>
            </a:pPr>
            <a:r>
              <a:t>БЕЗ ПЕРЕГРУЗКИ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02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700" b="1" i="0">
                <a:solidFill>
                  <a:srgbClr val="18313D"/>
                </a:solidFill>
                <a:latin typeface="Aptos"/>
              </a:defRPr>
            </a:pPr>
            <a:r>
              <a:t>Компактный план подготовки на четыре недели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CDD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359152" cy="4078224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53895" y="1783080"/>
            <a:ext cx="768096" cy="768096"/>
          </a:xfrm>
          <a:prstGeom prst="ellipse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5" y="17830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72491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16747E"/>
                </a:solidFill>
                <a:latin typeface="Aptos"/>
              </a:defRPr>
            </a:pPr>
            <a:r>
              <a:t>НЕДЕЛЯ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18470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Диагностика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" y="3785615"/>
            <a:ext cx="1371600" cy="347472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80390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18313D"/>
                </a:solidFill>
                <a:latin typeface="Aptos"/>
              </a:defRPr>
            </a:pPr>
            <a:r>
              <a:t>20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407408"/>
            <a:ext cx="177393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Выбрать одну сильную сторону и одну зону роста.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481328"/>
            <a:ext cx="2359152" cy="4078224"/>
          </a:xfrm>
          <a:prstGeom prst="roundRect">
            <a:avLst/>
          </a:prstGeom>
          <a:solidFill>
            <a:srgbClr val="F8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88536" y="1783080"/>
            <a:ext cx="768096" cy="768096"/>
          </a:xfrm>
          <a:prstGeom prst="ellipse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7830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272491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E56B4A"/>
                </a:solidFill>
                <a:latin typeface="Aptos"/>
              </a:defRPr>
            </a:pPr>
            <a:r>
              <a:t>НЕДЕЛЯ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26664"/>
            <a:ext cx="18470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Приёмы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3" y="3785615"/>
            <a:ext cx="1371600" cy="347472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503" y="380390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18313D"/>
                </a:solidFill>
                <a:latin typeface="Aptos"/>
              </a:defRPr>
            </a:pPr>
            <a:r>
              <a:t>2 × 25 минут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5" y="4407408"/>
            <a:ext cx="177393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Тренировать язык и анализ текста по понятным формулам.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1481328"/>
            <a:ext cx="2359152" cy="4078224"/>
          </a:xfrm>
          <a:prstGeom prst="roundRect">
            <a:avLst/>
          </a:prstGeom>
          <a:solidFill>
            <a:srgbClr val="F8E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23176" y="1783080"/>
            <a:ext cx="768096" cy="768096"/>
          </a:xfrm>
          <a:prstGeom prst="ellipse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17830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272491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E6B34A"/>
                </a:solidFill>
                <a:latin typeface="Aptos"/>
              </a:defRPr>
            </a:pPr>
            <a:r>
              <a:t>НЕДЕЛЯ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26664"/>
            <a:ext cx="18470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Пробная работа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21424" y="3785615"/>
            <a:ext cx="1371600" cy="347472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4" y="380390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18313D"/>
                </a:solidFill>
                <a:latin typeface="Aptos"/>
              </a:defRPr>
            </a:pPr>
            <a:r>
              <a:t>45 минут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4407408"/>
            <a:ext cx="177393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Решить вариант по времени и проверить по критериям.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1481328"/>
            <a:ext cx="2359152" cy="4078224"/>
          </a:xfrm>
          <a:prstGeom prst="roundRect">
            <a:avLst/>
          </a:prstGeom>
          <a:solidFill>
            <a:srgbClr val="DD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57815" y="1783080"/>
            <a:ext cx="768096" cy="768096"/>
          </a:xfrm>
          <a:prstGeom prst="ellipse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57815" y="17830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8" y="272491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4F9B78"/>
                </a:solidFill>
                <a:latin typeface="Aptos"/>
              </a:defRPr>
            </a:pPr>
            <a:r>
              <a:t>НЕДЕЛЯ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3026664"/>
            <a:ext cx="18470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18313D"/>
                </a:solidFill>
                <a:latin typeface="Aptos"/>
              </a:defRPr>
            </a:pPr>
            <a:r>
              <a:t>Коррекция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56063" y="3785615"/>
            <a:ext cx="1371600" cy="347472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01784" y="380390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18313D"/>
                </a:solidFill>
                <a:latin typeface="Aptos"/>
              </a:defRPr>
            </a:pPr>
            <a:r>
              <a:t>2 × 25 минут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4407408"/>
            <a:ext cx="177393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00" b="0" i="0">
                <a:solidFill>
                  <a:srgbClr val="667983"/>
                </a:solidFill>
                <a:latin typeface="Aptos"/>
              </a:defRPr>
            </a:pPr>
            <a:r>
              <a:t>Разобрать причины ошибок и повторить только слабые места.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83664" y="5806440"/>
            <a:ext cx="8430768" cy="438912"/>
          </a:xfrm>
          <a:prstGeom prst="roundRect">
            <a:avLst/>
          </a:prstGeom>
          <a:solidFill>
            <a:srgbClr val="DC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8083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 i="0">
                <a:solidFill>
                  <a:srgbClr val="0E5962"/>
                </a:solidFill>
                <a:latin typeface="Aptos"/>
              </a:defRPr>
            </a:pPr>
            <a:r>
              <a:t>Оптимальный ритм: короткая практика между занятиями + подробный разбор одной работы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667983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66798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93776"/>
            <a:ext cx="841248" cy="347472"/>
          </a:xfrm>
          <a:prstGeom prst="round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51206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Формула устойчивого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837943"/>
            <a:ext cx="7406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DCEBEA"/>
                </a:solidFill>
                <a:latin typeface="Aptos"/>
              </a:defRPr>
            </a:pPr>
            <a:r>
              <a:t>Победа начинается не со сложного задания, а с понятной системы работы.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15184"/>
            <a:ext cx="1627632" cy="658368"/>
          </a:xfrm>
          <a:prstGeom prst="roundRect">
            <a:avLst/>
          </a:prstGeom>
          <a:solidFill>
            <a:srgbClr val="16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80720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СИСТЕМА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2575" y="27706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615184"/>
            <a:ext cx="2240280" cy="658368"/>
          </a:xfrm>
          <a:prstGeom prst="round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807208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РАССУЖДЕНИЕ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27706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8616" y="2615184"/>
            <a:ext cx="1261872" cy="658368"/>
          </a:xfrm>
          <a:prstGeom prst="roundRect">
            <a:avLst/>
          </a:prstGeom>
          <a:solidFill>
            <a:srgbClr val="E6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2807208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ТЕКСТ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7706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2615184"/>
            <a:ext cx="2487168" cy="658368"/>
          </a:xfrm>
          <a:prstGeom prst="roundRect">
            <a:avLst/>
          </a:prstGeom>
          <a:solidFill>
            <a:srgbClr val="4F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807208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ОБРАТНАЯ СВЯЗЬ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758952"/>
            <a:ext cx="3337560" cy="5349240"/>
          </a:xfrm>
          <a:prstGeom prst="roundRect">
            <a:avLst/>
          </a:prstGeom>
          <a:solidFill>
            <a:srgbClr val="FF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14300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0E5962"/>
                </a:solidFill>
                <a:latin typeface="Aptos"/>
              </a:defRPr>
            </a:pPr>
            <a:r>
              <a:t>ЧЕК-ЛИСТ ПЕДАГОГА</a:t>
            </a:r>
          </a:p>
        </p:txBody>
      </p:sp>
      <p:sp>
        <p:nvSpPr>
          <p:cNvPr id="19" name="Oval 18"/>
          <p:cNvSpPr/>
          <p:nvPr/>
        </p:nvSpPr>
        <p:spPr>
          <a:xfrm>
            <a:off x="8549640" y="1783080"/>
            <a:ext cx="310896" cy="310896"/>
          </a:xfrm>
          <a:prstGeom prst="ellipse">
            <a:avLst/>
          </a:prstGeom>
          <a:solidFill>
            <a:srgbClr val="DDEDE4"/>
          </a:solidFill>
          <a:ln w="12700">
            <a:solidFill>
              <a:srgbClr val="4F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7830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4F9B7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801368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70" b="1" i="0">
                <a:solidFill>
                  <a:srgbClr val="18313D"/>
                </a:solidFill>
                <a:latin typeface="Aptos"/>
              </a:defRPr>
            </a:pPr>
            <a:r>
              <a:t>Есть конкретная цель</a:t>
            </a:r>
          </a:p>
        </p:txBody>
      </p:sp>
      <p:sp>
        <p:nvSpPr>
          <p:cNvPr id="22" name="Oval 21"/>
          <p:cNvSpPr/>
          <p:nvPr/>
        </p:nvSpPr>
        <p:spPr>
          <a:xfrm>
            <a:off x="8549640" y="2441448"/>
            <a:ext cx="310896" cy="310896"/>
          </a:xfrm>
          <a:prstGeom prst="ellipse">
            <a:avLst/>
          </a:prstGeom>
          <a:solidFill>
            <a:srgbClr val="DDEDE4"/>
          </a:solidFill>
          <a:ln w="12700">
            <a:solidFill>
              <a:srgbClr val="4F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44144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4F9B7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459736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70" b="1" i="0">
                <a:solidFill>
                  <a:srgbClr val="18313D"/>
                </a:solidFill>
                <a:latin typeface="Aptos"/>
              </a:defRPr>
            </a:pPr>
            <a:r>
              <a:t>Задание требует доказательства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3099815"/>
            <a:ext cx="310896" cy="310896"/>
          </a:xfrm>
          <a:prstGeom prst="ellipse">
            <a:avLst/>
          </a:prstGeom>
          <a:solidFill>
            <a:srgbClr val="DDEDE4"/>
          </a:solidFill>
          <a:ln w="12700">
            <a:solidFill>
              <a:srgbClr val="4F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09981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4F9B7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118103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70" b="1" i="0">
                <a:solidFill>
                  <a:srgbClr val="18313D"/>
                </a:solidFill>
                <a:latin typeface="Aptos"/>
              </a:defRPr>
            </a:pPr>
            <a:r>
              <a:t>Критерии известны заранее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3758184"/>
            <a:ext cx="310896" cy="310896"/>
          </a:xfrm>
          <a:prstGeom prst="ellipse">
            <a:avLst/>
          </a:prstGeom>
          <a:solidFill>
            <a:srgbClr val="DDEDE4"/>
          </a:solidFill>
          <a:ln w="12700">
            <a:solidFill>
              <a:srgbClr val="4F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7581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4F9B7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3776472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70" b="1" i="0">
                <a:solidFill>
                  <a:srgbClr val="18313D"/>
                </a:solidFill>
                <a:latin typeface="Aptos"/>
              </a:defRPr>
            </a:pPr>
            <a:r>
              <a:t>Ошибка разобрана по причине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0" y="4416552"/>
            <a:ext cx="310896" cy="310896"/>
          </a:xfrm>
          <a:prstGeom prst="ellipse">
            <a:avLst/>
          </a:prstGeom>
          <a:solidFill>
            <a:srgbClr val="DDEDE4"/>
          </a:solidFill>
          <a:ln w="12700">
            <a:solidFill>
              <a:srgbClr val="4F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4165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4F9B7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443484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70" b="1" i="0">
                <a:solidFill>
                  <a:srgbClr val="18313D"/>
                </a:solidFill>
                <a:latin typeface="Aptos"/>
              </a:defRPr>
            </a:pPr>
            <a:r>
              <a:t>Назначено следующее действие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867912"/>
            <a:ext cx="7132320" cy="1005840"/>
          </a:xfrm>
          <a:prstGeom prst="roundRect">
            <a:avLst/>
          </a:prstGeom>
          <a:solidFill>
            <a:srgbClr val="0E5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23944"/>
            <a:ext cx="6583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Рефлексия: какой один приём вы примените уже на ближайшем занятии?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5394960"/>
            <a:ext cx="4480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E6B34A"/>
                </a:solidFill>
                <a:latin typeface="Aptos"/>
              </a:defRPr>
            </a:pPr>
            <a:r>
              <a:t>Спасибо за работу!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897880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DCEBEA"/>
                </a:solidFill>
                <a:latin typeface="Aptos"/>
              </a:defRPr>
            </a:pPr>
            <a:r>
              <a:t>Диагностика → цель → тренировка → объяснение → проба → коррекция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47395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РУССКИЙ ЯЗЫК • ЛИТЕРАТУРА • ОЛИМПИАДА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